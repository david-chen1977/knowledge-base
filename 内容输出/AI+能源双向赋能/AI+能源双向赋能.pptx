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B89A6A"/>
                </a:solidFill>
                <a:latin typeface="Microsoft YaHei"/>
              </a:defRPr>
            </a:pPr>
            <a:r>
              <a:t>AI+能源双向赋能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5912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9A6A"/>
                </a:solidFill>
                <a:latin typeface="Microsoft YaHei"/>
              </a:defRPr>
            </a:pPr>
            <a:r>
              <a:t>政策已到，市场跟上了吗？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7259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从PE/VC视角拆解五月政策组合拳背后的三层机会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陈道雷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汇竑资本  |  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943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9A6A"/>
                </a:solidFill>
                <a:latin typeface="Franklin Gothic Medium"/>
              </a:defRPr>
            </a:pPr>
            <a:r>
              <a:t>HUIHONG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29000" cy="43891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43891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11312" y="1463040"/>
            <a:ext cx="3429000" cy="43891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核心问题：三个必须回答的拷问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Franklin Gothic Medium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谁买单？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最终付费方是谁？</a:t>
            </a:r>
            <a:br/>
            <a:r>
              <a:t>产业链各环节的真实支付意愿如何？</a:t>
            </a:r>
            <a:br/>
            <a:r>
              <a:t>算力用户 vs 数据中心 vs 电网/政府——三个层次的付费动机完全不同。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6459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Franklin Gothic Medium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数据在哪？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8346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没有真实交易数据的AI平台没有护城河。</a:t>
            </a:r>
            <a:br/>
            <a:r>
              <a:t>电力交易数据高度敏感，电网公司不会轻易开放。</a:t>
            </a:r>
            <a:br/>
            <a:r>
              <a:t>能跑通实盘才是真壁垒。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6459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00000"/>
                </a:solidFill>
                <a:latin typeface="Franklin Gothic Medium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945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为什么是你？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83464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电力行业极度排外。</a:t>
            </a:r>
            <a:br/>
            <a:r>
              <a:t>跨界团队必须回答：凭什么电网选你而不是体系内供应商？</a:t>
            </a:r>
            <a:br/>
            <a:r>
              <a:t>如果答案是"因为我们AI更厉害"，大概率没想清楚。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政策全景：五月三份文件的信号意义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0000"/>
                </a:solidFill>
                <a:latin typeface="Microsoft YaHei"/>
              </a:defRPr>
            </a:pPr>
            <a:r>
              <a:t>5月8日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四部门联合发布《关于促进人工智能与能源双向赋能的行动方案》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29项重点任务 · 首次将绿电占比作为算力设施规划参考指标 · 到2027年构建AI能源保障体系 · 到2030年算力设施绿电供给世界领先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0000"/>
                </a:solidFill>
                <a:latin typeface="Microsoft YaHei"/>
              </a:defRPr>
            </a:pPr>
            <a:r>
              <a:t>5月14日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《关于有序推动多用户绿电直连发展有关事项的通知》（发改能源〔2026〕688号）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绿电直连从"一对一"升级到"一对多" · 打开绿电批发市场 · 改变存量数据中心改造经济账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0000"/>
                </a:solidFill>
                <a:latin typeface="Microsoft YaHei"/>
              </a:defRPr>
            </a:pPr>
            <a:r>
              <a:t>5月26日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国家能源局发布首批51个"AI+能源"高价值场景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25家能源企业签约开放场景 · 新能源出力预测/现货报价/故障自愈已进入招标阶段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5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83464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5120640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《行动方案》拆解：29项任务的核心逻辑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4173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约束机制升级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8308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绿电占比成为算力设施项目布局规划的重要参考指标——不达标可能批不下来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资金杠杆倾斜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鼓励算力基础设施REITs + "两重""两新"国家级资金渠道支持，算力+绿电项目优先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全链条覆盖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4612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覆盖"源-网-荷-储"全链条，从底层算力枢纽到微电网、算力园区微观单元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范式转变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不是传统能源政策——是以算力为中心的能源保障体系，范式转变意味很浓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时间表明确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0916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2027年：初步构建AI能源保障体系</a:t>
            </a:r>
            <a:br/>
            <a:r>
              <a:t>2030年：算力设施绿电供给保障能力达到世界领先水平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29项任务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政策密度之高、节奏之快，在能源和AI两个领域都属罕见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11091672" cy="13716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688号文：绿电直连2.0的三个商业影响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影响一：绿电批发市场打开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"一对一"→"一对多"：一个风光电站可同时服务多个数据中心和产业园区。中小数据中心、第三方IDC从此可以参与绿电直连，门槛大幅降低。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影响二：存量数据中心改造市场启动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电费占运营成本30-60%，绿电直连可降低10-20%。中国数据中心年用电量~3000亿kWh，仅10%转为绿电直连即为300亿kWh级别市场。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影响三：算力西迁的经济账变了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西部招商从"电价便宜"升级为"绿电直连+碳足迹可追溯"，对高耗能训练业务吸引力大增。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47548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51个高价值场景的潜台词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最重要的信号：甲方主动开门了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25家能源企业签约开放场景——电力系统是极度保守的行业，愿意开放说明痛点已不可忽视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已进入招标阶段的真实需求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▸ 新能源出力预测  ▸ 现货市场报价  ▸ 电网故障自愈  ▸ 智能调度  ▸ 用能优化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从投资视角看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真正值得投的不是宏大叙事的平台，而是能在"一个具体场景里跑通闭环"的团队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案例：广东现货市场日均交易96次/天，人工报价根本跟不上，AI策略是降维打击而非锦上添花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29000" cy="47548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47548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11312" y="1371600"/>
            <a:ext cx="3429000" cy="47548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三层机会框架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第一层：设备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真金白银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29260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液冷散热、高效UPS、储能系统</a:t>
            </a:r>
            <a:br/>
            <a:br/>
            <a:r>
              <a:t>PUE&lt;1.25政策驱动，确定性最强</a:t>
            </a:r>
            <a:br/>
            <a:br/>
            <a:r>
              <a:t>但资产重、增长受限、估值天花板低（30-50x PE）</a:t>
            </a:r>
            <a:br/>
            <a:br/>
            <a:r>
              <a:t>一级缺优质标的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554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第二层：平台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核心推荐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560320"/>
            <a:ext cx="29260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AI电力交易、算力调度、VPP聚合、AI制冷SaaS、碳管理</a:t>
            </a:r>
            <a:br/>
            <a:br/>
            <a:r>
              <a:t>轻资产+高壁垒+可复制</a:t>
            </a:r>
            <a:br/>
            <a:br/>
            <a:r>
              <a:t>毛利60-80%，边际成本趋零</a:t>
            </a:r>
            <a:br/>
            <a:br/>
            <a:r>
              <a:t>最舒服的一级标的画像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554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第三层：概念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89A6A"/>
                </a:solidFill>
                <a:latin typeface="Microsoft YaHei"/>
              </a:defRPr>
            </a:pPr>
            <a:r>
              <a:t>保持警惕 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560320"/>
            <a:ext cx="29260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"AI赋能能源""智慧能源大脑""能源元宇宙"</a:t>
            </a:r>
            <a:br/>
            <a:br/>
            <a:r>
              <a:t>大词越多越要警惕</a:t>
            </a:r>
            <a:br/>
            <a:br/>
            <a:r>
              <a:t>判断标准：三句话内能否说清客户、问题、收费方式？</a:t>
            </a:r>
            <a:br/>
            <a:br/>
            <a:r>
              <a:t>不行 =&gt; 仍在PPT阶段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20116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349240" cy="201168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11091672" cy="25603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第一层：设备/硬件市场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确定性机会：PUE&lt;1.25驱动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7548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液冷散热：从可选变为必选</a:t>
            </a:r>
            <a:br/>
            <a:r>
              <a:t>高效UPS：能效标准提升</a:t>
            </a:r>
            <a:br/>
            <a:r>
              <a:t>储能集成：调峰调频需求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一级市场的痛点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11680"/>
            <a:ext cx="47548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✦ 资产重：产线资本投入数亿</a:t>
            </a:r>
            <a:br/>
            <a:r>
              <a:t>✦ 增长受限：产能爬坡约束</a:t>
            </a:r>
            <a:br/>
            <a:r>
              <a:t>✦ 估值天花板低：30-50x 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唯一值得关注的细分：浸没式液冷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技术路线尚未收敛，存在"路线赌对"的超额回报机会。英维克已上市，一级缺乏同类优质标的。设备不是最优配置，但可作为赛道配置的一部分。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一级市场判断：设备不是最优配置，但可以作为赛道配置的一部分。重点关注浸没式液冷早期公司。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2286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349240" cy="2286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第二层（核心推荐）：平台/SaaS机会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"AI+能源的卖铲人"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▸ AI电力交易平台（现货报价策略）</a:t>
            </a:r>
            <a:br/>
            <a:r>
              <a:t>▸ 算力调度平台（跨区域/跨云优化）</a:t>
            </a:r>
            <a:br/>
            <a:r>
              <a:t>▸ VPP聚合平台（需求响应）</a:t>
            </a:r>
            <a:br/>
            <a:r>
              <a:t>▸ AI制冷优化SaaS（数据中心节能）</a:t>
            </a:r>
            <a:br/>
            <a:r>
              <a:t>▸ 碳管理SaaS（碳资产追踪交易）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共同特征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116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轻资产：不需要建厂房买设备</a:t>
            </a:r>
            <a:br/>
            <a:r>
              <a:t>✓ 高壁垒：算法+真实数据+客户粘性</a:t>
            </a:r>
            <a:br/>
            <a:r>
              <a:t>✓ 可复制：边际成本趋近于零</a:t>
            </a:r>
            <a:br/>
            <a:r>
              <a:t>✓ 毛利高：60-80%是合理预期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⚠ 关键陷阱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很多公司说在做"AI电力交易"，实际上只是给电网做定制化项目，不是可规模化的SaaS产品。真实壁垒不是AI算法（门槛在降低），而是：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1. 拿到真实交易数据  2. 跑通实盘盈利  3. 形成数据飞轮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一级市场判断：这是目前最值得出手的环节。但尽调时要穿透"AI"包装，看清数据来源和实盘业绩。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46304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11091672" cy="146304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91672" cy="11887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AI电力交易平台详解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看得见的真需求：现货市场AI化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广东现货市场日均交易96次/天，人工报价根本无法追赶。AI策略不是锦上添花——是降维打击。电力现货市场报价是典型的时序预测+动态博弈问题，正是AI擅长的领域。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真正的壁垒（不是AI算法）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拿到真实交易数据：电力交易数据高度敏感，电网不会轻易开放</a:t>
            </a:r>
            <a:br/>
            <a:r>
              <a:t>② 跑通实盘：回测好和实盘盈利是两回事</a:t>
            </a:r>
            <a:br/>
            <a:r>
              <a:t>③ 形成数据飞轮：做得越多，模型越准——这才是真护城河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已有标的：瓦特智能（B轮/5亿实盘运营） · 清大科越（Pre-IPO/20亿）  ✅ 投资窗口期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8288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474720"/>
            <a:ext cx="11091672" cy="25603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AI制冷优化SaaS：最大的空白市场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海外对标：Phaidra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Phaidra已为Google降低30%制冷能耗。其AI控制系统实时优化数据中心暖通参数，无需硬件改造，纯软件价值。海外估值已超10亿美元。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国内对标空白——最佳投资窗口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为什么现在？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PUE&lt;1.25政策：新建+存量数据中心必须达标，制冷优化是最直接的成本项</a:t>
            </a:r>
            <a:br/>
            <a:r>
              <a:t>2. 电费占比高：30-60%运营成本，节能是刚需</a:t>
            </a:r>
            <a:br/>
            <a:r>
              <a:t>3. 海外验证：Phaidra证明了AI制冷优化的技术可行性和商业价值</a:t>
            </a:r>
            <a:br/>
            <a:r>
              <a:t>4. 市场空白：国内暂无专注该领域的独立公司</a:t>
            </a:r>
            <a:br/>
            <a:r>
              <a:t>5. 轻资产SaaS：实施周期短，无硬件成本，毛利60-80%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72591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一级市场判断：⭐ 最佳投资窗口。这是一个全球性的机会，中国需求可能比海外更迫切。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2286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349240" cy="2286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11091672" cy="219456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VPP聚合与算力调度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VPP聚合平台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数据中心作为柔性负荷参与需求响应</a:t>
            </a:r>
            <a:br/>
            <a:r>
              <a:t>电网为调峰调频付费</a:t>
            </a:r>
            <a:br/>
            <a:br/>
            <a:r>
              <a:t>模式：聚合多个数据中心的闲置备用容量</a:t>
            </a:r>
            <a:br/>
            <a:r>
              <a:t>在电网需要时释放，赚取辅助服务费用</a:t>
            </a:r>
            <a:br/>
            <a:br/>
            <a:r>
              <a:t>已有标的：电享科技（A轮/2亿）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算力调度平台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116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跨区域/跨云负载优化</a:t>
            </a:r>
            <a:br/>
            <a:r>
              <a:t>根据电价+绿电供给调度算力任务</a:t>
            </a:r>
            <a:br/>
            <a:br/>
            <a:r>
              <a:t>模式：将训练任务调度到绿电充足/电价低的区域</a:t>
            </a:r>
            <a:br/>
            <a:r>
              <a:t>类似AWS的"跟随可再生能源"调度</a:t>
            </a:r>
            <a:br/>
            <a:br/>
            <a:r>
              <a:t>已有标的：算力互联（B轮/8亿）、星链算力（A轮/3亿）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投资时点判断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两者均处于早期阶段（试点→产品化过渡期），属于"政策催化+市场验证"并行的赛道。</a:t>
            </a:r>
            <a:br/>
            <a:r>
              <a:t>VPP聚合的政策确定性更强（电改2.0核心方向），算力调度的市场规模天花板更高。</a:t>
            </a:r>
            <a:br/>
            <a:r>
              <a:t>建议：两个方向都配置，VPP聚合优先（政策确定性），算力调度跟进（市场空间更大）。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46304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11091672" cy="146304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91672" cy="128016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第三层：哪些是概念？——提高警惕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典型危险信号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"AI赋能能源"  "智慧能源大脑"  "能源元宇宙"  "能源AIoT平台"</a:t>
            </a:r>
            <a:br/>
            <a:r>
              <a:t>大词越多，越要警惕。如果一家公司不能在三句话内说清客户是谁、解决什么问题、怎么收费，大概率还在PPT阶段。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跨界团队的灵魂拷问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力行业极度排外。跨界团队必须回答："凭什么电网/发电集团选你而不是他们体系内的供应商？"如果答案是"因为我们AI更厉害"，那大概率还没想清楚。电力行业的商业关系、招投标流程、合规要求是独立于技术能力的壁垒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一级市场的判断标准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对宏大叙事保持警惕，对具体场景保持敏感。优先看已有标杆客户、已签合同的团队。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29000" cy="18288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18288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11312" y="1371600"/>
            <a:ext cx="3429000" cy="18288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11091672" cy="256032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谁买单？——付费链分析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算力用户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运营商/云厂商/AI公司</a:t>
            </a:r>
            <a:br/>
            <a:r>
              <a:t>为"绿电+低电价"付费</a:t>
            </a:r>
            <a:br/>
            <a:r>
              <a:t>溢价空间5-10%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463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数据中心运营商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9202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万国数据/秦淮数据等</a:t>
            </a:r>
            <a:br/>
            <a:r>
              <a:t>直接采购方（省钱的动力最强）</a:t>
            </a:r>
            <a:br/>
            <a:r>
              <a:t>需求响应/绿电直连/AI制冷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4630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电网/政府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92024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政策补贴方</a:t>
            </a:r>
            <a:br/>
            <a:r>
              <a:t>调峰调频辅助服务</a:t>
            </a:r>
            <a:br/>
            <a:r>
              <a:t>绿证/碳交易间接补贴</a:t>
            </a:r>
            <a:br/>
            <a:r>
              <a:t>存在政策风险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9A6A"/>
                </a:solidFill>
                <a:latin typeface="Microsoft YaHei"/>
              </a:defRPr>
            </a:pPr>
            <a:r>
              <a:t>核心判断：付费确定性排序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短期确定性最高的是"帮数据中心省钱"的模式（AI制冷优化、需求响应平台）——付费方是数据中心运营商，动机最强、决策最快。</a:t>
            </a:r>
            <a:br/>
            <a:br/>
            <a:r>
              <a:t>中期"帮电网赚钱"的模式（电力交易AI、算力调度）也会爆发，但窗口期顺序不同——前者需要电改2.0落地，后者需要用户习惯养成。</a:t>
            </a:r>
            <a:br/>
            <a:br/>
            <a:r>
              <a:t>长期来看，绿电溢价+碳交易+辅助服务将形成三重付费机制。但当前阶段，省钱的生意比赚钱的生意好做。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371600"/>
            <a:ext cx="3383280" cy="5029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2103120" cy="5029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371600"/>
            <a:ext cx="1554480" cy="5029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0" y="1371600"/>
            <a:ext cx="1673352" cy="5029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237744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965960"/>
            <a:ext cx="33832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210312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965960"/>
            <a:ext cx="15544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6960" y="1965960"/>
            <a:ext cx="1673352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874519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237744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2788920"/>
            <a:ext cx="33832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88920"/>
            <a:ext cx="210312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788920"/>
            <a:ext cx="15544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2788920"/>
            <a:ext cx="1673352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11880"/>
            <a:ext cx="237744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3611880"/>
            <a:ext cx="33832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611880"/>
            <a:ext cx="210312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3611880"/>
            <a:ext cx="15544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3611880"/>
            <a:ext cx="1673352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434840"/>
            <a:ext cx="237744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4434840"/>
            <a:ext cx="33832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434840"/>
            <a:ext cx="210312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0" y="4434840"/>
            <a:ext cx="15544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60" y="4434840"/>
            <a:ext cx="1673352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34840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257800"/>
            <a:ext cx="237744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80" y="5257800"/>
            <a:ext cx="33832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5257800"/>
            <a:ext cx="210312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5257800"/>
            <a:ext cx="1554480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66960" y="5257800"/>
            <a:ext cx="1673352" cy="73152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257800"/>
            <a:ext cx="11091672" cy="914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6080760"/>
            <a:ext cx="2377440" cy="45720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26080" y="6080760"/>
            <a:ext cx="3383280" cy="45720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6080760"/>
            <a:ext cx="2103120" cy="45720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6080760"/>
            <a:ext cx="1554480" cy="45720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66960" y="6080760"/>
            <a:ext cx="1673352" cy="457200"/>
          </a:xfrm>
          <a:prstGeom prst="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标的映射：现有玩家分布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139903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子赛道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1399032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代表标的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1399032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139903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时点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139903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判断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1993392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AI电力交易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1993392"/>
            <a:ext cx="3291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瓦特智能(B轮/5亿)</a:t>
            </a:r>
            <a:br/>
            <a:r>
              <a:t>清大科越(Pre-IPO/20亿)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199339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已有实盘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993392"/>
            <a:ext cx="1463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1993392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窗口期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2816352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VPP聚合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71800" y="2816352"/>
            <a:ext cx="3291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电享科技(A轮/2亿)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281635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试点阶段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816352"/>
            <a:ext cx="1463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2816352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早期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3639312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算力调度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3639312"/>
            <a:ext cx="3291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算力互联(B轮/8亿)</a:t>
            </a:r>
            <a:br/>
            <a:r>
              <a:t>星链算力(A轮/3亿)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363931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产品化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3639312"/>
            <a:ext cx="1463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3639312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窗口期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462272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AI制冷优化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71800" y="4462272"/>
            <a:ext cx="3291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国内暂无专注独立公司</a:t>
            </a:r>
            <a:br/>
            <a:r>
              <a:t>海外：Phaidra(10亿美元+)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446227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00000"/>
                </a:solidFill>
                <a:latin typeface="Microsoft YaHei"/>
              </a:defRPr>
            </a:pPr>
            <a:r>
              <a:t>空白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8200" y="4462272"/>
            <a:ext cx="1463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4462272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00000"/>
                </a:solidFill>
                <a:latin typeface="Microsoft YaHei"/>
              </a:defRPr>
            </a:pPr>
            <a:r>
              <a:t>最佳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285232"/>
            <a:ext cx="2194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液冷散热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71800" y="5285232"/>
            <a:ext cx="32918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英维克(上市)</a:t>
            </a:r>
            <a:br/>
            <a:r>
              <a:t>高澜股份(上市)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5080" y="528523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成熟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5285232"/>
            <a:ext cx="14630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10012680" y="5285232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二级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6108192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Microsoft YaHei"/>
              </a:defRPr>
            </a:pPr>
            <a:r>
              <a:t>碳管理SaaS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71800" y="610819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暂无算电协同聚焦标的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610819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00000"/>
                </a:solidFill>
                <a:latin typeface="Microsoft YaHei"/>
              </a:defRPr>
            </a:pPr>
            <a:r>
              <a:t>空白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610819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9A6A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12680" y="6108192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9A6A"/>
                </a:solidFill>
                <a:latin typeface="Microsoft YaHei"/>
              </a:defRPr>
            </a:pPr>
            <a:r>
              <a:t>关注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2743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4572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71600"/>
            <a:ext cx="5349240" cy="4572000"/>
          </a:xfrm>
          <a:prstGeom prst="roundRect">
            <a:avLst/>
          </a:prstGeom>
          <a:solidFill>
            <a:srgbClr val="2A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投资行动指引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对PE/VC同行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7548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优先看第二层（平台/SaaS）</a:t>
            </a:r>
            <a:br/>
            <a:r>
              <a:t>   轻资产+高壁垒+可复制——PE/VC最舒服的标的</a:t>
            </a:r>
            <a:br/>
            <a:br/>
            <a:r>
              <a:t>2. 尽调核心验证三个问题</a:t>
            </a:r>
            <a:br/>
            <a:r>
              <a:t>   ① 数据来源可不可持续？</a:t>
            </a:r>
            <a:br/>
            <a:r>
              <a:t>   ② 实盘业绩能不能验证？</a:t>
            </a:r>
            <a:br/>
            <a:r>
              <a:t>   ③ 客户续约率？</a:t>
            </a:r>
            <a:br/>
            <a:br/>
            <a:r>
              <a:t>3. 关注第一个"标杆客户"</a:t>
            </a:r>
            <a:br/>
            <a:r>
              <a:t>   在电力行业，第一个大客户的获取难度远高于技术开发</a:t>
            </a:r>
            <a:br/>
            <a:br/>
            <a:r>
              <a:t>4. 对宏大叙事保持警惕</a:t>
            </a:r>
            <a:br/>
            <a:r>
              <a:t>   对具体场景保持敏感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4630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对创业者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03120"/>
            <a:ext cx="47548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不要做"AI+能源"平台</a:t>
            </a:r>
            <a:br/>
            <a:r>
              <a:t>   太大了，资源不够</a:t>
            </a:r>
            <a:br/>
            <a:br/>
            <a:r>
              <a:t>2. 选一个具体场景死磕</a:t>
            </a:r>
            <a:br/>
            <a:r>
              <a:t>   现货报价/制冷优化/需求响应</a:t>
            </a:r>
            <a:br/>
            <a:r>
              <a:t>   三个方向都是真需求</a:t>
            </a:r>
            <a:br/>
            <a:br/>
            <a:r>
              <a:t>3. 先绑定一个大客户</a:t>
            </a:r>
            <a:br/>
            <a:r>
              <a:t>   在电力行业，最好的销售是</a:t>
            </a:r>
            <a:br/>
            <a:r>
              <a:t>   "头部客户案例"</a:t>
            </a:r>
            <a:br/>
            <a:br/>
            <a:r>
              <a:t>4. 重视数据积累</a:t>
            </a:r>
            <a:br/>
            <a:r>
              <a:t>   半年后，这会是最大的护城河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011680"/>
            <a:ext cx="2130552" cy="2130552"/>
          </a:xfrm>
          <a:prstGeom prst="rect">
            <a:avLst/>
          </a:prstGeom>
          <a:noFill/>
          <a:ln w="19050">
            <a:solidFill>
              <a:srgbClr val="B8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731520"/>
            <a:ext cx="8531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89A6A"/>
                </a:solidFill>
                <a:latin typeface="Franklin Gothic Medium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60320"/>
            <a:ext cx="85313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89A6A"/>
                </a:solidFill>
                <a:latin typeface="Microsoft YaHei"/>
              </a:defRPr>
            </a:pPr>
            <a:r>
              <a:t>AI+能源双向赋能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政策已到，市场跟上了吗？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5313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陈道雷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5313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89A6A"/>
                </a:solidFill>
                <a:latin typeface="Franklin Gothic Medium"/>
              </a:defRPr>
            </a:pPr>
            <a:r>
              <a:t>汇竑资本  HUIHONG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29200"/>
            <a:ext cx="85313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数据截止：2026年6月25日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457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9A6A"/>
                </a:solidFill>
                <a:latin typeface="Microsoft YaHei"/>
              </a:defRPr>
            </a:pPr>
            <a:r>
              <a:t>本文仅代表个人观点，不构成投资建议。投资有风险，决策需谨慎。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