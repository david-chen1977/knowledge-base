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00000"/>
                </a:solidFill>
                <a:latin typeface="Franklin Gothic Medium"/>
                <a:ea typeface="微软雅黑"/>
              </a:rPr>
              <a:t>AI应用层投资机会</a:t>
            </a:r>
          </a:p>
          <a:p>
            <a:pPr algn="ctr">
              <a:spcBef>
                <a:spcPts val="1200"/>
              </a:spcBef>
            </a:pPr>
            <a:r>
              <a:rPr sz="1800" b="0">
                <a:solidFill>
                  <a:srgbClr val="4A5565"/>
                </a:solidFill>
                <a:latin typeface="Franklin Gothic Medium"/>
                <a:ea typeface="微软雅黑"/>
              </a:rPr>
              <a:t>从编程、法律到生物科技，挖掘真实营收赛道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4389120"/>
            <a:ext cx="2103120" cy="0"/>
          </a:xfrm>
          <a:prstGeom prst="line">
            <a:avLst/>
          </a:prstGeom>
          <a:ln w="317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核心判断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645920"/>
            <a:ext cx="9784080" cy="2286000"/>
          </a:xfrm>
          <a:prstGeom prst="roundRect">
            <a:avLst>
              <a:gd name="adj" fmla="val 5000"/>
            </a:avLst>
          </a:prstGeom>
          <a:solidFill>
            <a:srgbClr val="FDF0F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9235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Franklin Gothic Medium"/>
                <a:ea typeface="微软雅黑"/>
              </a:rPr>
              <a:t>AI应用层不是“没有需求”，而是“价值分布极度不均”。编程已经被证明，法律正在被证明，生物科技将被证明。</a:t>
            </a:r>
          </a:p>
          <a:p>
            <a:r>
              <a:rPr sz="1000" b="0">
                <a:solidFill>
                  <a:srgbClr val="364153"/>
                </a:solidFill>
                <a:latin typeface="Franklin Gothic Medium"/>
                <a:ea typeface="微软雅黑"/>
              </a:rPr>
              <a:t/>
            </a:r>
          </a:p>
          <a:p>
            <a:pPr algn="l"/>
            <a:r>
              <a:rPr sz="1400" b="0">
                <a:solidFill>
                  <a:srgbClr val="4A5565"/>
                </a:solidFill>
                <a:latin typeface="Franklin Gothic Medium"/>
                <a:ea typeface="微软雅黑"/>
              </a:rPr>
              <a:t>投资人问“AI有没有价值”是错的问题。正确的问题是：“AI的价值在哪层？”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全球AI应用层市场概览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463040"/>
            <a:ext cx="4663440" cy="47548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5544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Franklin Gothic Medium"/>
                <a:ea typeface="微软雅黑"/>
              </a:rPr>
              <a:t>市场规模（亿美元）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▸ 云AI市场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   领先2027年$168B，CAGR 37%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▸ 企业AI应用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   2027年$99B，全球IT支出约为$4.7T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▸ 生成式AI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   2025年$67B，2030年$1.3T（Bloomberg）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▸ 中国AI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   2024年$34B，2027年$66B CAGR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4663440" cy="475488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Franklin Gothic Medium"/>
                <a:ea typeface="微软雅黑"/>
              </a:rPr>
              <a:t>渗透率分析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▸ 全球AI渗透率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   今年~6%，预计2030年~25%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▸ 普及者奖励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   早期采用者可带来显著竞争优势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▸ 中国市场特点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   资金靠政府担保贷款 + 科创板企业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926080"/>
            <a:ext cx="3017520" cy="0"/>
          </a:xfrm>
          <a:prstGeom prst="line">
            <a:avLst/>
          </a:prstGeom>
          <a:ln w="317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32918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Franklin Gothic Medium"/>
                <a:ea typeface="微软雅黑"/>
              </a:rPr>
              <a:t>赛道一：编程——已被证明的黄金赛道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编程赛道核心数据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$2B ARR（2025）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50万付费用户，年增速&gt;200%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185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0F7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157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$1.5B营收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7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GitHub Copilot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57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累计180万付费用户，展望$3B+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FEF0E0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906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$500→$20/月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Devin定价跳水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906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AI程序员“大跳水”，Claude Code$17/月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683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655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85%已使用AI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655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开发者采用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655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JetBrains 2026：从“Vibe Coding”→“Agentic Engineering”。编程门槛消失，定价权下移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编程赛道投资见解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645920"/>
            <a:ext cx="9784080" cy="45720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9235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64153"/>
                </a:solidFill>
                <a:latin typeface="Franklin Gothic Medium"/>
                <a:ea typeface="微软雅黑"/>
              </a:rPr>
              <a:t>① 工具层已经激烈：Cursor、Copilot、Windsurf等红海，但业务场景层仍有空白。
② AI编程从“下方AI”——你不需要购买AI，你只需要85%的AI能力。
③ 中国编程AI市场规模2030年有望超$10B，但需要找到类似“解决以前解决不了的问题”的场景。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926080"/>
            <a:ext cx="3017520" cy="0"/>
          </a:xfrm>
          <a:prstGeom prst="line">
            <a:avLst/>
          </a:prstGeom>
          <a:ln w="317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32918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Franklin Gothic Medium"/>
                <a:ea typeface="微软雅黑"/>
              </a:rPr>
              <a:t>赛道二：法律——正在被证明的下一个黄金赛道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法律赛道核心数据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2030年$50B+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全球法律AI市场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全球法律服务市场$900B，AI渗透率~5.5%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185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0F7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157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$300M资金+$100M营收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7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Harvey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57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全球顶级律所客户，多语言注意力管理、庭诊准备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FEF0E0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906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CLM领域AI化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Ironclad $150M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906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合同生命周期管理，从审查到签署全流程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683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0F7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655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海国数字$10B+市值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655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中国法律AI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655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作为标杆，法律AI主要渗透在合规、合同管理、分析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法律赛道投资见解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645920"/>
            <a:ext cx="9784080" cy="45720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9235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64153"/>
                </a:solidFill>
                <a:latin typeface="Franklin Gothic Medium"/>
                <a:ea typeface="微软雅黑"/>
              </a:rPr>
              <a:t>① 法律AI是典型的“锦上添花”（让好的变得更好）：大律所人工成本高，AI可大幅降低。
② 法律AI的终极形态是摇号：商业律师将被重新定义，但不会被取代。
③ 物流、金融、医疗等大宗合同场景是最佳落地场景。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926080"/>
            <a:ext cx="3017520" cy="0"/>
          </a:xfrm>
          <a:prstGeom prst="line">
            <a:avLst/>
          </a:prstGeom>
          <a:ln w="317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32918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4AF37"/>
                </a:solidFill>
                <a:latin typeface="Franklin Gothic Medium"/>
                <a:ea typeface="微软雅黑"/>
              </a:rPr>
              <a:t>赛道三：生物科技——将被证明的未来巨头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生物科技AI核心数据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8F0FE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2030年$67B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全球AI医药市场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CAGR 42%，线上从药物发现到临床试验优化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7185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0F7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157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$10B+市值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157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Recursion Pharma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8157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蓬莱屏障技术，线上AI筛选匹配药物提前十年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934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FEF0E0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906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DeepMind分支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Isomorphic Labs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906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AlphaFold3升级，与药品企业合作增强AI发现药物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6830" y="1554480"/>
            <a:ext cx="2640330" cy="4572000"/>
          </a:xfrm>
          <a:prstGeom prst="roundRect">
            <a:avLst>
              <a:gd name="adj" fmla="val 5000"/>
            </a:avLst>
          </a:prstGeom>
          <a:solidFill>
            <a:srgbClr val="E0F7E8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6558" y="1737360"/>
            <a:ext cx="242087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Franklin Gothic Medium"/>
                <a:ea typeface="微软雅黑"/>
              </a:rPr>
              <a:t>先发药物$2B市值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6558" y="2423160"/>
            <a:ext cx="242087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1828"/>
                </a:solidFill>
                <a:latin typeface="Franklin Gothic Medium"/>
                <a:ea typeface="微软雅黑"/>
              </a:rPr>
              <a:t>中国生物科技AI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36558" y="2926080"/>
            <a:ext cx="242087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成为中国AI药物发现标杆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生物科技赛道投资见解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645920"/>
            <a:ext cx="9784080" cy="45720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9235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64153"/>
                </a:solidFill>
                <a:latin typeface="Franklin Gothic Medium"/>
                <a:ea typeface="微软雅黑"/>
              </a:rPr>
              <a:t>① 生物科技AI从“讲故事”阶段转向“出药阶段”。上市药物AI发现的成分将宣告新时代。
② 药物发现周期可从10年缩短到3-4年，成本从$2.6B降低到$500M以下。
③ 早期药物发现是产业链中AI价值最大的环节。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548" y="438912"/>
            <a:ext cx="10162641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C00000"/>
                </a:solidFill>
              </a:defRPr>
            </a:pPr>
            <a:r>
              <a:rPr>
                <a:latin typeface="Franklin Gothic Medium"/>
                <a:ea typeface="微软雅黑"/>
              </a:rPr>
              <a:t>投资策略总结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1645920"/>
            <a:ext cx="9784080" cy="13716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73736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Franklin Gothic Medium"/>
                <a:ea typeface="微软雅黑"/>
              </a:rPr>
              <a:t>编程：已被证明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工具层红海，业务场景层有机会。重点关注企业尺度AI编程、安全性与Theory of Mind系统。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154680"/>
            <a:ext cx="9784080" cy="13716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4612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8B0000"/>
                </a:solidFill>
                <a:latin typeface="Franklin Gothic Medium"/>
                <a:ea typeface="微软雅黑"/>
              </a:rPr>
              <a:t>法律：正在被证明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大律所与中小律所的AI应用差异将成为洗牌关键。注意力管理、合同审查是最佳落地场景。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663440"/>
            <a:ext cx="9784080" cy="13716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B89A6A"/>
                </a:solidFill>
                <a:latin typeface="Franklin Gothic Medium"/>
                <a:ea typeface="微软雅黑"/>
              </a:rPr>
              <a:t>生物科技：将被证明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364153"/>
                </a:solidFill>
                <a:latin typeface="Franklin Gothic Medium"/>
                <a:ea typeface="微软雅黑"/>
              </a:rPr>
              <a:t>从“讲故事”到“出药”的转变将是最大的投资机会。药物发现是价值最大的环节。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7044" y="441655"/>
            <a:ext cx="425196" cy="42428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0100" y="625449"/>
            <a:ext cx="317296" cy="3172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188720" y="918971"/>
            <a:ext cx="1016447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uihon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2760" y="73152"/>
            <a:ext cx="813816" cy="813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9284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5"/>
                </a:solidFill>
                <a:latin typeface="Franklin Gothic Medium"/>
                <a:ea typeface="微软雅黑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926080"/>
            <a:ext cx="3017520" cy="0"/>
          </a:xfrm>
          <a:prstGeom prst="line">
            <a:avLst/>
          </a:prstGeom>
          <a:ln w="31750">
            <a:solidFill>
              <a:srgbClr val="D4AF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371600" y="32918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D4AF37"/>
                </a:solidFill>
                <a:latin typeface="Franklin Gothic Medium"/>
                <a:ea typeface="微软雅黑"/>
              </a:rPr>
              <a:t>THANK YOU</a:t>
            </a:r>
          </a:p>
          <a:p>
            <a:pPr algn="ctr">
              <a:spcBef>
                <a:spcPts val="800"/>
              </a:spcBef>
            </a:pPr>
            <a:r>
              <a:rPr sz="1600" b="0">
                <a:solidFill>
                  <a:srgbClr val="4A5565"/>
                </a:solidFill>
                <a:latin typeface="Franklin Gothic Medium"/>
                <a:ea typeface="微软雅黑"/>
              </a:rPr>
              <a:t>汇竑股权投资，助力创新企业成长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