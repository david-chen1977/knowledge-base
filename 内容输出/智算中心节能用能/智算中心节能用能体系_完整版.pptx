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智算中心节能用能体系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从成本中心到竞争力核心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陈道雷 · 汇竑资本 | 2026年6月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AAA"/>
                </a:solidFill>
              </a:defRPr>
            </a:pPr>
            <a:r>
              <a:t>PE/VC 一级股权投资 · 算电协同赛道深度研究 · 机密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</a:defRPr>
            </a:pPr>
            <a:r>
              <a:t>目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0000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691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</a:defRPr>
            </a:pPr>
            <a:r>
              <a:t>三个必须面对的现实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148840"/>
            <a:ext cx="7315200" cy="914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0000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</a:defRPr>
            </a:pPr>
            <a:r>
              <a:t>三层架构：系统设计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834640"/>
            <a:ext cx="7315200" cy="914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0175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0000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063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</a:defRPr>
            </a:pPr>
            <a:r>
              <a:t>产业链图谱与价值分布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520440"/>
            <a:ext cx="7315200" cy="914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703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0000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749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</a:defRPr>
            </a:pPr>
            <a:r>
              <a:t>五种商业模式评估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206240"/>
            <a:ext cx="7315200" cy="914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389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0000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434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</a:defRPr>
            </a:pPr>
            <a:r>
              <a:t>投资时机与组合策略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892040"/>
            <a:ext cx="7315200" cy="914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074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0000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120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</a:defRPr>
            </a:pPr>
            <a:r>
              <a:t>核心判断与行动建议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5577840"/>
            <a:ext cx="7315200" cy="914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00000"/>
                </a:solidFill>
              </a:defRPr>
            </a:pPr>
            <a:r>
              <a:t>三个必须面对的现实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1148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0000"/>
                </a:solidFill>
              </a:defRPr>
            </a:pPr>
            <a:r>
              <a:t>⚡ 算力爆发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377440"/>
            <a:ext cx="73152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743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2026年数据中心用电量 ~3000亿kWh</a:t>
            </a:r>
          </a:p>
          <a:p>
            <a:pPr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2030年或超7000亿kWh</a:t>
            </a:r>
          </a:p>
          <a:p>
            <a:pPr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CAGR 15-20%</a:t>
            </a:r>
          </a:p>
          <a:p>
            <a:pPr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→ 增长最快的单一用电大户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63040"/>
            <a:ext cx="3291840" cy="41148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737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0000"/>
                </a:solidFill>
              </a:defRPr>
            </a:pPr>
            <a:r>
              <a:t>📋 政策硬约束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377440"/>
            <a:ext cx="73152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651760"/>
            <a:ext cx="2743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PUE &lt; 1.25 + 绿电 ≥ 80%</a:t>
            </a:r>
          </a:p>
          <a:p>
            <a:pPr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国家枢纽节点新建数据中心红线</a:t>
            </a:r>
          </a:p>
          <a:p>
            <a:pPr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→ 节能从"加分项"变"准入门槛"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291840" cy="41148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737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0000"/>
                </a:solidFill>
              </a:defRPr>
            </a:pPr>
            <a:r>
              <a:t>💰 电费吃利润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2377440"/>
            <a:ext cx="73152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2743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千P智算中心年电费 1.5-3亿</a:t>
            </a:r>
          </a:p>
          <a:p>
            <a:pPr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省20% → 3000-6000万利润释放</a:t>
            </a:r>
          </a:p>
          <a:p>
            <a:pPr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IRR 8% → 12%</a:t>
            </a:r>
          </a:p>
          <a:p>
            <a:pPr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→ 直接决定项目回报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▶ 三个现实同步发生 → 节能用能体系不再是"社会责任"，是竞争力核心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00000"/>
                </a:solidFill>
              </a:defRPr>
            </a:pPr>
            <a:r>
              <a:t>三层架构：节能是个系统，不是单点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38247" y="1280160"/>
            <a:ext cx="7315200" cy="329184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5447" y="1554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IT 设备级能效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5447" y="21031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低功耗芯片 + 液冷散热</a:t>
            </a:r>
            <a:br/>
            <a:r>
              <a:t>每瓦特产出最多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4114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DDD"/>
                </a:solidFill>
              </a:defRPr>
            </a:pPr>
            <a:r>
              <a:t>⏱ 6-12月见效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4047" y="1737360"/>
            <a:ext cx="5943600" cy="2560320"/>
          </a:xfrm>
          <a:prstGeom prst="roundRect">
            <a:avLst/>
          </a:prstGeom>
          <a:solidFill>
            <a:srgbClr val="E06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1247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设施级能效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1247" y="25603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AI 制冷优化 + 储能系统</a:t>
            </a:r>
            <a:br/>
            <a:r>
              <a:t>PUE 从 1.5 到 1.15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1247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DDD"/>
                </a:solidFill>
              </a:defRPr>
            </a:pPr>
            <a:r>
              <a:t>⏱ 1-2年见效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9847" y="2194560"/>
            <a:ext cx="4572000" cy="1828800"/>
          </a:xfrm>
          <a:prstGeom prst="round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7047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系统级能效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047" y="30175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绿电直供 + VPP现货 + 算力调度</a:t>
            </a:r>
            <a:br/>
            <a:r>
              <a:t>从"被动用电"到"主动管电"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7047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DDD"/>
                </a:solidFill>
              </a:defRPr>
            </a:pPr>
            <a:r>
              <a:t>⏱ 2-3年见效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828800"/>
            <a:ext cx="2560320" cy="18288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综合效果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560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综合用电成本</a:t>
            </a:r>
            <a:br/>
            <a:r>
              <a:t>可降 20-40%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第一层 · IT设备级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0000"/>
                </a:solidFill>
              </a:defRPr>
            </a:pPr>
            <a:r>
              <a:t>每瓦特产出最多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1148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0000"/>
                </a:solidFill>
              </a:defRPr>
            </a:pPr>
            <a:r>
              <a:t>🔲 低功耗推理芯片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651760"/>
            <a:ext cx="137160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1E1E"/>
                </a:solidFill>
              </a:defRPr>
            </a:pPr>
            <a:r>
              <a:t>推理专用 ASIC 比通用 GPU 节能 5-10 倍</a:t>
            </a:r>
          </a:p>
          <a:p>
            <a:pPr>
              <a:spcAft>
                <a:spcPts val="400"/>
              </a:spcAft>
              <a:defRPr sz="600" b="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1E1E1E"/>
                </a:solidFill>
              </a:defRPr>
            </a:pPr>
            <a:r>
              <a:t>2026年最值得关注的不是训练芯片，是推理芯片</a:t>
            </a:r>
          </a:p>
          <a:p>
            <a:pPr>
              <a:spcAft>
                <a:spcPts val="400"/>
              </a:spcAft>
              <a:defRPr sz="1400" b="0">
                <a:solidFill>
                  <a:srgbClr val="666666"/>
                </a:solidFill>
              </a:defRPr>
            </a:pPr>
            <a:r>
              <a:t>推理是长期、持续、海量的——这才是真正的"用量"</a:t>
            </a:r>
          </a:p>
          <a:p>
            <a:pPr>
              <a:spcAft>
                <a:spcPts val="400"/>
              </a:spcAft>
              <a:defRPr sz="600" b="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C00000"/>
                </a:solidFill>
              </a:defRPr>
            </a:pPr>
            <a:r>
              <a:t>▶ 推理芯片将是2026-2028年增长速度最快的细分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41148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0000"/>
                </a:solidFill>
              </a:defRPr>
            </a:pPr>
            <a:r>
              <a:t>🌊 液冷散热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2651760"/>
            <a:ext cx="137160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1E1E"/>
                </a:solidFill>
              </a:defRPr>
            </a:pPr>
            <a:r>
              <a:t>冷板式液冷  PUE &lt; 1.20  ✅ 已大规模商用</a:t>
            </a:r>
          </a:p>
          <a:p>
            <a:pPr>
              <a:spcAft>
                <a:spcPts val="400"/>
              </a:spcAft>
              <a:defRPr sz="1400" b="1">
                <a:solidFill>
                  <a:srgbClr val="1E1E1E"/>
                </a:solidFill>
              </a:defRPr>
            </a:pPr>
            <a:r>
              <a:t>浸没式液冷  PUE &lt; 1.05  🚀 快速起量</a:t>
            </a:r>
          </a:p>
          <a:p>
            <a:pPr>
              <a:spcAft>
                <a:spcPts val="400"/>
              </a:spcAft>
              <a:defRPr sz="600" b="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C00000"/>
                </a:solidFill>
              </a:defRPr>
            </a:pPr>
            <a:r>
              <a:t>NVIDIA Rubin 系列 (2026+) → 100% 全液冷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</a:defRPr>
            </a:pPr>
            <a:r>
              <a:t>整个产业链被推向液冷路线</a:t>
            </a:r>
          </a:p>
          <a:p>
            <a:pPr>
              <a:spcAft>
                <a:spcPts val="400"/>
              </a:spcAft>
              <a:defRPr sz="600" b="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E1E1E"/>
                </a:solidFill>
              </a:defRPr>
            </a:pPr>
            <a:r>
              <a:t>📊 2024年液冷市场 ¥172.72亿 (+67%)</a:t>
            </a:r>
          </a:p>
          <a:p>
            <a:pPr>
              <a:spcAft>
                <a:spcPts val="400"/>
              </a:spcAft>
              <a:defRPr sz="1400" b="1">
                <a:solidFill>
                  <a:srgbClr val="1E1E1E"/>
                </a:solidFill>
              </a:defRPr>
            </a:pPr>
            <a:r>
              <a:t>📊 2025年新建DC液冷渗透率 &gt; 50%</a:t>
            </a:r>
          </a:p>
          <a:p>
            <a:pPr>
              <a:spcAft>
                <a:spcPts val="400"/>
              </a:spcAft>
              <a:defRPr sz="600" b="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C00000"/>
                </a:solidFill>
              </a:defRPr>
            </a:pPr>
            <a:r>
              <a:t>▶ 液冷从"可选"变成"标配"——时间点就是现在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</a:defRPr>
            </a:pPr>
            <a:r>
              <a:t>📌 关键转折：液冷不再是差异化优势，已经是行业准入门槛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第二层 · 设施级能效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0000"/>
                </a:solidFill>
              </a:defRPr>
            </a:pPr>
            <a:r>
              <a:t>AI 制冷优化：最大被低估的投资机会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1E1E"/>
                </a:solidFill>
              </a:defRPr>
            </a:pPr>
            <a:r>
              <a:t>制冷占数据中心能耗 30-40% → AI 优化可降低 10-30%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303520" cy="347472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0000"/>
                </a:solidFill>
              </a:defRPr>
            </a:pPr>
            <a:r>
              <a:t>🌍 海外对标：Phaidra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200400"/>
            <a:ext cx="137160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1E1E"/>
                </a:solidFill>
              </a:defRPr>
            </a:pPr>
            <a:r>
              <a:t>AI Agent 优化数据中心制冷系统</a:t>
            </a:r>
          </a:p>
          <a:p>
            <a:pPr>
              <a:spcAft>
                <a:spcPts val="400"/>
              </a:spcAft>
              <a:defRPr sz="600" b="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C00000"/>
                </a:solidFill>
              </a:defRPr>
            </a:pPr>
            <a:r>
              <a:t>Google 冷冻水系统 → 制冷能耗降低 30%</a:t>
            </a:r>
          </a:p>
          <a:p>
            <a:pPr>
              <a:spcAft>
                <a:spcPts val="400"/>
              </a:spcAft>
              <a:defRPr sz="1400" b="1">
                <a:solidFill>
                  <a:srgbClr val="C00000"/>
                </a:solidFill>
              </a:defRPr>
            </a:pPr>
            <a:r>
              <a:t>NVIDIA 液冷系统 → 热尖峰减少 ~80%</a:t>
            </a:r>
          </a:p>
          <a:p>
            <a:pPr>
              <a:spcAft>
                <a:spcPts val="400"/>
              </a:spcAft>
              <a:defRPr sz="600" b="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E7D32"/>
                </a:solidFill>
              </a:defRPr>
            </a:pPr>
            <a:r>
              <a:t>毛利率 60-80%，纯 SaaS 轻资产模式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</a:defRPr>
            </a:pPr>
            <a:r>
              <a:t>模式已验证，独立公司运营中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60320"/>
            <a:ext cx="5029200" cy="347472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0000"/>
                </a:solidFill>
              </a:defRPr>
            </a:pPr>
            <a:r>
              <a:t>🇨🇳 国内：赛道空白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3200400"/>
            <a:ext cx="137160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338328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t>❌ 没有一家专注 AI 制冷优化的独立公司</a:t>
            </a:r>
          </a:p>
          <a:p>
            <a:pPr>
              <a:spcAft>
                <a:spcPts val="400"/>
              </a:spcAft>
              <a:defRPr sz="800" b="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E1E1E"/>
                </a:solidFill>
              </a:defRPr>
            </a:pPr>
            <a:r>
              <a:t>这意味着：</a:t>
            </a:r>
          </a:p>
          <a:p>
            <a:pPr>
              <a:spcAft>
                <a:spcPts val="400"/>
              </a:spcAft>
              <a:defRPr sz="600" b="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1E1E1E"/>
                </a:solidFill>
              </a:defRPr>
            </a:pPr>
            <a:r>
              <a:t>选择 A：投资海外 Phaidra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t>选择 B：国内孵化一个</a:t>
            </a:r>
          </a:p>
          <a:p>
            <a:pPr>
              <a:spcAft>
                <a:spcPts val="400"/>
              </a:spcAft>
              <a:defRPr sz="600" b="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E1E1E"/>
                </a:solidFill>
              </a:defRPr>
            </a:pPr>
            <a:r>
              <a:t>💰 国内 TAM 预估：≥500座大型DC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</a:defRPr>
            </a:pPr>
            <a:r>
              <a:t>    每年 ¥50-100万/座 = ¥2.5-5亿可寻址市场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</a:defRPr>
            </a:pPr>
            <a:r>
              <a:t>▶ 行动建议：本月调研国内是否可孵化，这是最适合 PE/VC 的轻资产模式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第三层 · 系统级能效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0000"/>
                </a:solidFill>
              </a:defRPr>
            </a:pPr>
            <a:r>
              <a:t>从"被动用电"到"主动管电"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45720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0000"/>
                </a:solidFill>
              </a:defRPr>
            </a:pPr>
            <a:r>
              <a:t>☀️ 绿电直供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423160"/>
            <a:ext cx="91440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通过 PPA 或专线直购新能源</a:t>
            </a: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度电成本 0.2-0.3元（西部）</a:t>
            </a: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vs 0.7-0.8元（东部工商业）</a:t>
            </a: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案例：乌兰察布中金数据</a:t>
            </a: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45MW/180MWh 源网荷储一体化</a:t>
            </a: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绿电替代率 38.74%</a:t>
            </a: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年自发自用 8.48亿kWh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474720" cy="45720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0000"/>
                </a:solidFill>
              </a:defRPr>
            </a:pPr>
            <a:r>
              <a:t>⚡ VPP + 现货交易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423160"/>
            <a:ext cx="91440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韶关联通 (2026.5)：国内首单</a:t>
            </a: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数据中心 = 电网"柔性调节器"</a:t>
            </a: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电价低→多算，电价高→少算</a:t>
            </a: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📌 按钮时刻</a:t>
            </a: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从"理论上可行" → "已跑通"</a:t>
            </a: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千亿级市场规模正在打开</a:t>
            </a: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适合平台型投资布局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37360"/>
            <a:ext cx="3474720" cy="45720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0000"/>
                </a:solidFill>
              </a:defRPr>
            </a:pPr>
            <a:r>
              <a:t>🔄 算力随电价调度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2423160"/>
            <a:ext cx="91440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训练任务可中断/迁移/等待</a:t>
            </a: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非紧急 → 移至西部低价时段</a:t>
            </a: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推理 → 留在用户侧低延迟</a:t>
            </a: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时空调度的经济价值巨大</a:t>
            </a: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跨区域算力调度平台兴起</a:t>
            </a: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效率提升 20-40%</a:t>
            </a:r>
          </a:p>
          <a:p>
            <a:pPr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适合 PE/VC 轻资产布局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0000"/>
                </a:solidFill>
              </a:defRPr>
            </a:pPr>
            <a:r>
              <a:t>产业链：七个环节，一个被低估的价值高地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2286000"/>
                <a:gridCol w="26517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环节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毛利率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资本密度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PE/VC适合度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代表公司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AI 低功耗芯片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50-60%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寒武纪/算能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液冷散热系统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25-40%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⭐⭐⭐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英维克/高澜/曙光数创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高效供电配电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20-30%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科华数据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储能系统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15-25%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⭐⭐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宁德/阳光电源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智算中心运营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30-50%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万国数据/世纪互联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t>能效优化服务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t>60-80%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t>极低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t>⭐⭐⭐⭐⭐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t>国内空白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下游算力消费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40-70%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⭐⭐⭐⭐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阿里云/字节跳动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核心判断：价值最高的环节不在设备和运营，在能效优化服务（毛利率60-80%，轻资产可复制）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液冷散热三龙头占据大部分市场（英维克/高澜/曙光数创）| 能效SaaS赛道国内空白 → 最佳布局窗口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0000"/>
                </a:solidFill>
              </a:defRPr>
            </a:pPr>
            <a:r>
              <a:t>五种商业模式：你的钱该放在哪里？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1371600"/>
                <a:gridCol w="137160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模式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描述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资产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IRR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PE/VC适合度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A 源网荷储一体化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自建风光+储能+数据中心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重资产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6-10%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❌ 适合产业资本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B 分布式算力仓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绿电富集区模块化DC部署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中资产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12-18%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✅ 有资源玩家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C 能效优化SaaS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AI优化制冷/用电/交易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轻资产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30%+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✅✅ 最适PE/VC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D VPP聚合+交易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聚合DC负荷参与电力市场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轻资产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20-30%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✅✅ 窗口期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E 存量改造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老旧DC液冷+能效升级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中资产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15-25%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✅ 政策驱动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▶ 模式 C（能效SaaS）和模式 D（VPP聚合）最适合 PE/VC：轻资产、高壁垒、毛利率 60-80%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重资产模式（A/E）适合产业资本和央企，财务投资人应优先考虑平台型和 SaaS 模式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深度拆解 · 模式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0000"/>
                </a:solidFill>
              </a:defRPr>
            </a:pPr>
            <a:r>
              <a:t>能效优化 SaaS —— 最适合 PE/VC 的标的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486400" cy="438912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0000"/>
                </a:solidFill>
              </a:defRPr>
            </a:pPr>
            <a:r>
              <a:t>📋 商业模式画布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0000"/>
                </a:solidFill>
              </a:defRPr>
            </a:pPr>
            <a:r>
              <a:t>客户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</a:defRPr>
            </a:pPr>
            <a:r>
              <a:t>智算中心运营方（万国数据/世纪互联/秦淮数据）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0000"/>
                </a:solidFill>
              </a:defRPr>
            </a:pPr>
            <a:r>
              <a:t>价值主张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154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</a:defRPr>
            </a:pPr>
            <a:r>
              <a:t>省电 10-30% = 每座 DC 每年节省 ¥1000-3000万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0000"/>
                </a:solidFill>
              </a:defRPr>
            </a:pPr>
            <a:r>
              <a:t>收费模式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749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</a:defRPr>
            </a:pPr>
            <a:r>
              <a:t>按节省电费分成 20-30% / SaaS 年订阅 ¥50-100万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0000"/>
                </a:solidFill>
              </a:defRPr>
            </a:pPr>
            <a:r>
              <a:t>核心壁垒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343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</a:defRPr>
            </a:pPr>
            <a:r>
              <a:t>算法精度 + 跨平台兼容 + 数据飞轮效应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0000"/>
                </a:solidFill>
              </a:defRPr>
            </a:pPr>
            <a:r>
              <a:t>增长引擎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937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</a:defRPr>
            </a:pPr>
            <a:r>
              <a:t>每多一个客户 → 多一组训练数据 → 模型更准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737360"/>
            <a:ext cx="4846320" cy="438912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1920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0000"/>
                </a:solidFill>
              </a:defRPr>
            </a:pPr>
            <a:r>
              <a:t>💰 市场预估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46888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C00000"/>
                </a:solidFill>
              </a:defRPr>
            </a:pPr>
            <a:r>
              <a:t>TAM（总可寻址市场）</a:t>
            </a:r>
          </a:p>
          <a:p>
            <a:pPr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国内 ≥500 座大型数据中心</a:t>
            </a:r>
          </a:p>
          <a:p>
            <a:pPr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每座年费 ¥50-100万 → ¥2.5-5亿</a:t>
            </a:r>
          </a:p>
          <a:p>
            <a:pPr>
              <a:spcAft>
                <a:spcPts val="400"/>
              </a:spcAft>
              <a:defRPr sz="800" b="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C00000"/>
                </a:solidFill>
              </a:defRPr>
            </a:pPr>
            <a:r>
              <a:t>SAM（可服务市场）</a:t>
            </a:r>
          </a:p>
          <a:p>
            <a:pPr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目标前 30% 高端客户 → ¥0.75-1.5亿</a:t>
            </a:r>
          </a:p>
          <a:p>
            <a:pPr>
              <a:spcAft>
                <a:spcPts val="400"/>
              </a:spcAft>
              <a:defRPr sz="800" b="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C00000"/>
                </a:solidFill>
              </a:defRPr>
            </a:pPr>
            <a:r>
              <a:t>SOM（可获得市场）</a:t>
            </a:r>
          </a:p>
          <a:p>
            <a:pPr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3年目标 50座 DC → ¥2500-5000万 ARR</a:t>
            </a:r>
          </a:p>
          <a:p>
            <a:pPr>
              <a:spcAft>
                <a:spcPts val="400"/>
              </a:spcAft>
              <a:defRPr sz="800" b="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2E7D32"/>
                </a:solidFill>
              </a:defRPr>
            </a:pPr>
            <a:r>
              <a:t>毛利率 60-80%</a:t>
            </a:r>
          </a:p>
          <a:p>
            <a:pPr>
              <a:spcAft>
                <a:spcPts val="400"/>
              </a:spcAft>
              <a:defRPr sz="1400" b="1">
                <a:solidFill>
                  <a:srgbClr val="C00000"/>
                </a:solidFill>
              </a:defRPr>
            </a:pPr>
            <a:r>
              <a:t>▶ 海外已验证，国内空白，3年窗口期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</a:defRPr>
            </a:pPr>
            <a:r>
              <a:t>▶ 行动：本月启动国内对标公司调研，如空白则评估内部孵化可行性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0000"/>
                </a:solidFill>
              </a:defRPr>
            </a:pPr>
            <a:r>
              <a:t>投资时机：窗口期正在打开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赛道成熟度时间轴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2026 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2028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286000"/>
            <a:ext cx="987552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91640" y="2212848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1E1E"/>
                </a:solidFill>
              </a:defRPr>
            </a:pPr>
            <a:r>
              <a:t>概念期</a:t>
            </a:r>
            <a:br/>
            <a:r>
              <a:t>液冷方案POC</a:t>
            </a:r>
          </a:p>
        </p:txBody>
      </p:sp>
      <p:sp>
        <p:nvSpPr>
          <p:cNvPr id="13" name="Oval 12"/>
          <p:cNvSpPr/>
          <p:nvPr/>
        </p:nvSpPr>
        <p:spPr>
          <a:xfrm>
            <a:off x="3977640" y="2212848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5603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1E1E"/>
                </a:solidFill>
              </a:defRPr>
            </a:pPr>
            <a:r>
              <a:t>早期</a:t>
            </a:r>
            <a:br/>
            <a:r>
              <a:t>液冷渗透50%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0" y="2212848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25603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1E1E"/>
                </a:solidFill>
              </a:defRPr>
            </a:pPr>
            <a:r>
              <a:t>成长期 🔥</a:t>
            </a:r>
            <a:br/>
            <a:r>
              <a:t>VPP首单落地</a:t>
            </a:r>
            <a:br/>
            <a:r>
              <a:t>政策硬约束</a:t>
            </a:r>
          </a:p>
        </p:txBody>
      </p:sp>
      <p:sp>
        <p:nvSpPr>
          <p:cNvPr id="17" name="Oval 16"/>
          <p:cNvSpPr/>
          <p:nvPr/>
        </p:nvSpPr>
        <p:spPr>
          <a:xfrm>
            <a:off x="8549640" y="2212848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5603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1E1E"/>
                </a:solidFill>
              </a:defRPr>
            </a:pPr>
            <a:r>
              <a:t>快速扩散</a:t>
            </a:r>
            <a:br/>
            <a:r>
              <a:t>并购开始出现</a:t>
            </a:r>
          </a:p>
        </p:txBody>
      </p:sp>
      <p:sp>
        <p:nvSpPr>
          <p:cNvPr id="19" name="Oval 18"/>
          <p:cNvSpPr/>
          <p:nvPr/>
        </p:nvSpPr>
        <p:spPr>
          <a:xfrm>
            <a:off x="10835640" y="2212848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25603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1E1E"/>
                </a:solidFill>
              </a:defRPr>
            </a:pPr>
            <a:r>
              <a:t>成熟</a:t>
            </a:r>
            <a:br/>
            <a:r>
              <a:t>竞争白热化</a:t>
            </a:r>
            <a:br/>
            <a:r>
              <a:t>退出窗口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14800"/>
            <a:ext cx="3291840" cy="13716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🟢 液冷渗透 &gt; 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754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</a:defRPr>
            </a:pPr>
            <a:r>
              <a:t>确定性最强，竞争最激烈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114800"/>
            <a:ext cx="3291840" cy="13716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🟢 VPP 首单落地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754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</a:defRPr>
            </a:pPr>
            <a:r>
              <a:t>模式已跑通，赶紧布局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114800"/>
            <a:ext cx="3291840" cy="13716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🔵 AI制冷优化国内空白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754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</a:defRPr>
            </a:pPr>
            <a:r>
              <a:t>要么第一个进，要么等 Phaidra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943600"/>
            <a:ext cx="10515600" cy="54864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989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当前时间点：未来 12-18 个月是 PE/VC 的黄金窗口期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0000"/>
                </a:solidFill>
              </a:defRPr>
            </a:pPr>
            <a:r>
              <a:t>组合策略：1 个亿怎么投？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1371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能效 SaaS + VPP 聚合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轻资产高壁垒</a:t>
            </a:r>
            <a:br/>
            <a:r>
              <a:t>平台型布局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468880" cy="1371600"/>
          </a:xfrm>
          <a:prstGeom prst="roundRect">
            <a:avLst/>
          </a:prstGeom>
          <a:solidFill>
            <a:srgbClr val="E06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4630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电力交易 AI + 算力调度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017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窗口期</a:t>
            </a:r>
            <a:br/>
            <a:r>
              <a:t>先发优势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2468880" cy="1371600"/>
          </a:xfrm>
          <a:prstGeom prst="round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浸没式液冷 + 分布式算力仓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前瞻布局</a:t>
            </a:r>
            <a:br/>
            <a:r>
              <a:t>技术路线押注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71600"/>
            <a:ext cx="2468880" cy="13716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4630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极早期技术 (光子计算等)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017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期权价值</a:t>
            </a:r>
            <a:br/>
            <a:r>
              <a:t>生态卡位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10515600" cy="13716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297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0000"/>
                </a:solidFill>
              </a:defRPr>
            </a:pPr>
            <a:r>
              <a:t>🎯 核心原则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</a:defRPr>
            </a:pPr>
            <a:r>
              <a:t>▸ 一级市场赌平台型机会，设备留给二级市场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</a:defRPr>
            </a:pPr>
            <a:r>
              <a:t>▸ 轻资产优先（SaaS + VPP），重资产做配套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</a:defRPr>
            </a:pPr>
            <a:r>
              <a:t>▸ 优先布局国内空白赛道（AI 制冷优化）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0000"/>
                </a:solidFill>
              </a:defRPr>
            </a:pPr>
            <a:r>
              <a:t>DD 必问的五个问题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收入质量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</a:defRPr>
            </a:pPr>
            <a:r>
              <a:t>客户是试点项目还是持续付费？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续约率多少？能否 predict revenue？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874520"/>
            <a:ext cx="9144000" cy="914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4572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竞争壁垒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331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</a:defRPr>
            </a:pPr>
            <a:r>
              <a:t>为什么电网和数据中心不自己做？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331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你的差异化到底在哪里？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2834640"/>
            <a:ext cx="9144000" cy="914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291840"/>
            <a:ext cx="4572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37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数据飞轮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291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</a:defRPr>
            </a:pPr>
            <a:r>
              <a:t>用的人越多，效果越好吗？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291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有没有网络效应和数据积累？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794760"/>
            <a:ext cx="9144000" cy="914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251960"/>
            <a:ext cx="4572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政策依赖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251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</a:defRPr>
            </a:pPr>
            <a:r>
              <a:t>如果电改放缓，商业模式还成立吗？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251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有没有政策以外的真实价值？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4754880"/>
            <a:ext cx="9144000" cy="914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5212080"/>
            <a:ext cx="4572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212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团队背景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212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</a:defRPr>
            </a:pPr>
            <a:r>
              <a:t>有没有既懂电力又懂 AI 的复合人才？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212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创始团队的行业积累有多深？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5715000"/>
            <a:ext cx="9144000" cy="914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0000"/>
                </a:solidFill>
              </a:defRPr>
            </a:pPr>
            <a:r>
              <a:t>三个核心判断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5720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C00000"/>
                </a:solidFill>
              </a:defRPr>
            </a:pPr>
            <a: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0000"/>
                </a:solidFill>
              </a:defRPr>
            </a:pPr>
            <a:r>
              <a:t>双 80 是硬约束不是口号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3017520"/>
            <a:ext cx="146304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1E1E"/>
                </a:solidFill>
              </a:defRPr>
            </a:pPr>
            <a:r>
              <a:t>绿电 80% + PUE 1.25</a:t>
            </a:r>
            <a:br/>
            <a:r>
              <a:t>节能用能体系从"加分项"变"准入门槛"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291840" cy="45720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554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C00000"/>
                </a:solidFill>
              </a:defRPr>
            </a:pPr>
            <a: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0000"/>
                </a:solidFill>
              </a:defRPr>
            </a:pPr>
            <a:r>
              <a:t>广东首单 = 按钮时刻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3017520"/>
            <a:ext cx="146304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291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1E1E"/>
                </a:solidFill>
              </a:defRPr>
            </a:pPr>
            <a:r>
              <a:t>数据中心 VPP 从"理论上可行"</a:t>
            </a:r>
            <a:br/>
            <a:r>
              <a:t>到"商业上已跑通"，千亿级市场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291840" cy="45720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554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C00000"/>
                </a:solidFill>
              </a:defRPr>
            </a:pPr>
            <a: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0000"/>
                </a:solidFill>
              </a:defRPr>
            </a:pPr>
            <a:r>
              <a:t>最性感的投资不是盖 DC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3017520"/>
            <a:ext cx="146304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291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1E1E"/>
                </a:solidFill>
              </a:defRPr>
            </a:pPr>
            <a:r>
              <a:t>液冷 ¥ 重 vs SaaS ¥¥ 轻</a:t>
            </a:r>
            <a:br/>
            <a:r>
              <a:t>一级市场赌后者，毛利率 60-80%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0000"/>
                </a:solidFill>
              </a:defRPr>
            </a:pPr>
            <a:r>
              <a:t>后续跟踪方向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9144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</a:defRPr>
            </a:pPr>
            <a:r>
              <a:t>AI 制冷优化 SaaS 标的扫描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国内空白赛道，评估自研/投资/孵化路径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920240"/>
            <a:ext cx="9144000" cy="914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9144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</a:defRPr>
            </a:pPr>
            <a:r>
              <a:t>数据中心 VPP 现货交易案例验证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2026年5月首单落地，验证模式 D 财务模型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651760"/>
            <a:ext cx="9144000" cy="914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9144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34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</a:defRPr>
            </a:pPr>
            <a:r>
              <a:t>绿电直供/源网荷储项目评估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PPA vs 自建新能源，两条路径经济性对比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3383280"/>
            <a:ext cx="9144000" cy="914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566160"/>
            <a:ext cx="9144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11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566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</a:defRPr>
            </a:pPr>
            <a:r>
              <a:t>存量数据中心液冷改造机会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政策确定性强，关注改造服务商和材料供应商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4114800"/>
            <a:ext cx="9144000" cy="914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297680"/>
            <a:ext cx="9144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343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297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</a:defRPr>
            </a:pPr>
            <a:r>
              <a:t>NVIDIA Rubin 全液冷供应链跟踪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确认新技术路线下的投资机会窗口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4846320"/>
            <a:ext cx="9144000" cy="914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5029200"/>
            <a:ext cx="9144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029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</a:defRPr>
            </a:pPr>
            <a:r>
              <a:t>AI 电力交易平台早期布局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窗口期 12-18 个月，先建立行业认知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286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陈道雷 · 汇竑资本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AAAA"/>
                </a:solidFill>
              </a:defRPr>
            </a:pPr>
            <a:r>
              <a:t>以上为个人基于公开信息和行业研究的分析推演，不构成投资建议。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