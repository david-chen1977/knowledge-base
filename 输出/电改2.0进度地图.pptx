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3200400"/>
            <a:ext cx="9418320" cy="27432"/>
          </a:xfrm>
          <a:prstGeom prst="round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B89A6A"/>
                </a:solidFill>
                <a:latin typeface="Microsoft YaHei"/>
              </a:defRPr>
            </a:pPr>
            <a:r>
              <a:t>电改2.0：电力市场化进度全景地图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18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——哪些省份真的在推电力市场化？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AD7D"/>
                </a:solidFill>
                <a:latin typeface="Microsoft YaHei"/>
              </a:defRPr>
            </a:pPr>
            <a:r>
              <a:t>算电协同投资系列 · 选题四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2026年6月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AD7D"/>
                </a:solidFill>
                <a:latin typeface="Microsoft YaHei"/>
              </a:defRPr>
            </a:pPr>
            <a:r>
              <a:t>PE/VC Investment Pitch · Institutional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201168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4864" cy="201168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303520" cy="164592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303520" cy="164592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核心观点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Investment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1060704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9A6A"/>
                </a:solidFill>
                <a:latin typeface="Microsoft YaHei"/>
              </a:defRPr>
            </a:pPr>
            <a:r>
              <a:t>电改2.0不是要不要推的问题，而是各省进度差3-5年——</a:t>
            </a:r>
            <a:br/>
            <a:r>
              <a:t>选对省份布局算电协同，比选对技术路线更重要。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59152"/>
            <a:ext cx="10607040" cy="9509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当前7省现货市场已正式运行（山西/广东/山东/甘肃/蒙西/湖北/浙江），</a:t>
            </a:r>
            <a:br/>
            <a:r>
              <a:t>5省即将转正（安徽/陕西/辽宁/河北南网/南方区域），</a:t>
            </a:r>
            <a:br/>
            <a:r>
              <a:t>仍有近10省停留在短周期试运行或未启动。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13632"/>
            <a:ext cx="502920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9A6A"/>
                </a:solidFill>
                <a:latin typeface="Microsoft YaHei"/>
              </a:defRPr>
            </a:pPr>
            <a:r>
              <a:t>进度分化 → 跨省套利空间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62272"/>
            <a:ext cx="502920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蒙西用户侧240元/MWh vs 广东460元/MWh</a:t>
            </a:r>
            <a:br/>
            <a:r>
              <a:t>价差近1倍，地理套利空间巨大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913632"/>
            <a:ext cx="502920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9A6A"/>
                </a:solidFill>
                <a:latin typeface="Microsoft YaHei"/>
              </a:defRPr>
            </a:pPr>
            <a:r>
              <a:t>进度分化 → 选址决策梯度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62272"/>
            <a:ext cx="502920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甘肃/蒙西/陕西低电价区→算电协同首选</a:t>
            </a:r>
            <a:br/>
            <a:r>
              <a:t>广东/江苏高价区→VPP/需求响应价值大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10881360" cy="18288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286000" cy="109728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2286000" cy="109728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2286000" cy="109728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0" y="1371600"/>
            <a:ext cx="3200400" cy="109728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2286000" cy="109728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2926080"/>
            <a:ext cx="2286000" cy="109728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60720" y="2926080"/>
            <a:ext cx="2286000" cy="109728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2926080"/>
            <a:ext cx="3200400" cy="109728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10881360" cy="146304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电改进程时间线 | 2015-2026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从9号文到现货市场全面铺开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444752"/>
            <a:ext cx="2011680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9A6A"/>
                </a:solidFill>
                <a:latin typeface="Microsoft YaHei"/>
              </a:defRPr>
            </a:pPr>
            <a:r>
              <a:t>2015</a:t>
            </a:r>
            <a:br/>
            <a:r>
              <a:t>中发9号文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901952"/>
            <a:ext cx="201168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新一轮电改启动</a:t>
            </a:r>
            <a:br/>
            <a:r>
              <a:t>管住中间、放开两头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444752"/>
            <a:ext cx="2011680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9A6A"/>
                </a:solidFill>
                <a:latin typeface="Microsoft YaHei"/>
              </a:defRPr>
            </a:pPr>
            <a:r>
              <a:t>2017-2019</a:t>
            </a:r>
            <a:br/>
            <a:r>
              <a:t>首批8个现货试点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901952"/>
            <a:ext cx="201168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山西/广东/山东/甘肃</a:t>
            </a:r>
            <a:br/>
            <a:r>
              <a:t>蒙西/福建/浙江/四川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1444752"/>
            <a:ext cx="2011680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9A6A"/>
                </a:solidFill>
                <a:latin typeface="Microsoft YaHei"/>
              </a:defRPr>
            </a:pPr>
            <a:r>
              <a:t>2021-2023</a:t>
            </a:r>
            <a:br/>
            <a:r>
              <a:t>第二批试点+扩围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1901952"/>
            <a:ext cx="201168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湖北/安徽/辽宁</a:t>
            </a:r>
            <a:br/>
            <a:r>
              <a:t>陕西/河北南网等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1444752"/>
            <a:ext cx="2926080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9A6A"/>
                </a:solidFill>
                <a:latin typeface="Microsoft YaHei"/>
              </a:defRPr>
            </a:pPr>
            <a:r>
              <a:t>2024-2026</a:t>
            </a:r>
            <a:br/>
            <a:r>
              <a:t>现货市场正式运行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1901952"/>
            <a:ext cx="292608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7省转正 + 5省即将转正</a:t>
            </a:r>
            <a:br/>
            <a:r>
              <a:t>负电价常态化·容量电价分化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999232"/>
            <a:ext cx="2011680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9A6A"/>
                </a:solidFill>
                <a:latin typeface="Microsoft YaHei"/>
              </a:defRPr>
            </a:pPr>
            <a:r>
              <a:t>2024.6</a:t>
            </a:r>
            <a:br/>
            <a:r>
              <a:t>粤/鲁转正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456432"/>
            <a:ext cx="201168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首批非试点省份转正</a:t>
            </a:r>
            <a:br/>
            <a:r>
              <a:t>市场规则持续迭代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999232"/>
            <a:ext cx="2011680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9A6A"/>
                </a:solidFill>
                <a:latin typeface="Microsoft YaHei"/>
              </a:defRPr>
            </a:pPr>
            <a:r>
              <a:t>2025</a:t>
            </a:r>
            <a:br/>
            <a:r>
              <a:t>蒙西/湖北转正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456432"/>
            <a:ext cx="201168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首个非试点转正</a:t>
            </a:r>
            <a:br/>
            <a:r>
              <a:t>规则版本迭代加速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2999232"/>
            <a:ext cx="2011680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9A6A"/>
                </a:solidFill>
                <a:latin typeface="Microsoft YaHei"/>
              </a:defRPr>
            </a:pPr>
            <a:r>
              <a:t>2025-2026</a:t>
            </a:r>
            <a:br/>
            <a:r>
              <a:t>南方区域市场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3456432"/>
            <a:ext cx="201168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首个跨省区域市场</a:t>
            </a:r>
            <a:br/>
            <a:r>
              <a:t>粤桂云黔琼五省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999232"/>
            <a:ext cx="2926080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00000"/>
                </a:solidFill>
                <a:latin typeface="Microsoft YaHei"/>
              </a:defRPr>
            </a:pPr>
            <a:r>
              <a:t>2026关键变化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456432"/>
            <a:ext cx="292608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负电价正式化 · 容量电价分化</a:t>
            </a:r>
            <a:br/>
            <a:r>
              <a:t>新能源全面入市 · 售电盈利模式重构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45152"/>
            <a:ext cx="10607040" cy="11338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AD7D"/>
                </a:solidFill>
                <a:latin typeface="Microsoft YaHei"/>
              </a:defRPr>
            </a:pPr>
            <a:r>
              <a:t>核心判断：2024-2026是电改从试点到全面铺开的转折窗口。先行省份已形成成熟市场机制，后发省份存在制度性红利。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1612880" cy="347472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719072"/>
            <a:ext cx="11612880" cy="320040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039112"/>
            <a:ext cx="11612880" cy="320040"/>
          </a:xfrm>
          <a:prstGeom prst="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359152"/>
            <a:ext cx="11612880" cy="320040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679191"/>
            <a:ext cx="11612880" cy="320040"/>
          </a:xfrm>
          <a:prstGeom prst="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999232"/>
            <a:ext cx="11612880" cy="320040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319272"/>
            <a:ext cx="11612880" cy="320040"/>
          </a:xfrm>
          <a:prstGeom prst="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639311"/>
            <a:ext cx="11612880" cy="320040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第一梯队 | 已正式运行（7省）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市场机制成熟，可做布局参考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4/17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389888"/>
            <a:ext cx="1097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64153"/>
                </a:solidFill>
                <a:latin typeface="Microsoft YaHei"/>
              </a:defRPr>
            </a:pPr>
            <a:r>
              <a:t>省份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389888"/>
            <a:ext cx="10058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64153"/>
                </a:solidFill>
                <a:latin typeface="Microsoft YaHei"/>
              </a:defRPr>
            </a:pPr>
            <a:r>
              <a:t>转正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1389888"/>
            <a:ext cx="12801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64153"/>
                </a:solidFill>
                <a:latin typeface="Microsoft YaHei"/>
              </a:defRPr>
            </a:pPr>
            <a:r>
              <a:t>均价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389888"/>
            <a:ext cx="30175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64153"/>
                </a:solidFill>
                <a:latin typeface="Microsoft YaHei"/>
              </a:defRPr>
            </a:pPr>
            <a:r>
              <a:t>核心特征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389888"/>
            <a:ext cx="26517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64153"/>
                </a:solidFill>
                <a:latin typeface="Microsoft YaHei"/>
              </a:defRPr>
            </a:pPr>
            <a:r>
              <a:t>算电协同价值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17373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山西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173736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17373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AD7D"/>
                </a:solidFill>
                <a:latin typeface="Microsoft YaHei"/>
              </a:defRPr>
            </a:pPr>
            <a:r>
              <a:t>~260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7373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首批试点，规则V15.0，辅助服务成熟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7373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储能+VPP可参与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0574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广东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205740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2024.6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205740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AD7D"/>
                </a:solidFill>
                <a:latin typeface="Microsoft YaHei"/>
              </a:defRPr>
            </a:pPr>
            <a:r>
              <a:t>~460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0574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负荷最大，电价最高，VPP首单落地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05740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VPP/需求响应大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3774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山东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237744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2024.6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237744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AD7D"/>
                </a:solidFill>
                <a:latin typeface="Microsoft YaHei"/>
              </a:defRPr>
            </a:pPr>
            <a:r>
              <a:t>~350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237744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新能源渗透高，储能补偿退坡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37744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新能源+储能套利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697479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B89A6A"/>
                </a:solidFill>
                <a:latin typeface="Microsoft YaHei"/>
              </a:defRPr>
            </a:pPr>
            <a:r>
              <a:t>甘肃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2697479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2024.9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2697479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AD7D"/>
                </a:solidFill>
                <a:latin typeface="Microsoft YaHei"/>
              </a:defRPr>
            </a:pPr>
            <a:r>
              <a:t>~145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2697479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新能源占比最高，电价全国最低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2697479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AD7D"/>
                </a:solidFill>
                <a:latin typeface="Microsoft YaHei"/>
              </a:defRPr>
            </a:pPr>
            <a:r>
              <a:t>算电协同首选地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30175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B89A6A"/>
                </a:solidFill>
                <a:latin typeface="Microsoft YaHei"/>
              </a:defRPr>
            </a:pPr>
            <a:r>
              <a:t>蒙西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301752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2025.2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301752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AD7D"/>
                </a:solidFill>
                <a:latin typeface="Microsoft YaHei"/>
              </a:defRPr>
            </a:pPr>
            <a:r>
              <a:t>~240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301752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首个非试点转正，数据中心集群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01752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AD7D"/>
                </a:solidFill>
                <a:latin typeface="Microsoft YaHei"/>
              </a:defRPr>
            </a:pPr>
            <a:r>
              <a:t>最优布局地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3375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湖北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333756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2025.6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33375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AD7D"/>
                </a:solidFill>
                <a:latin typeface="Microsoft YaHei"/>
              </a:defRPr>
            </a:pPr>
            <a:r>
              <a:t>~300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33375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中部电力枢纽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33375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区位价值中等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3657599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浙江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3657599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2025底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7440" y="3657599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AD7D"/>
                </a:solidFill>
                <a:latin typeface="Microsoft YaHei"/>
              </a:defRPr>
            </a:pPr>
            <a:r>
              <a:t>~350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3657599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高负荷，高电价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3657599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算力需求大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1612880" cy="329184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700784"/>
            <a:ext cx="11612880" cy="310896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011679"/>
            <a:ext cx="11612880" cy="310896"/>
          </a:xfrm>
          <a:prstGeom prst="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322576"/>
            <a:ext cx="11612880" cy="310896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633472"/>
            <a:ext cx="11612880" cy="310896"/>
          </a:xfrm>
          <a:prstGeom prst="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944368"/>
            <a:ext cx="11612880" cy="310896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3200400"/>
            <a:ext cx="5669280" cy="146304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200400"/>
            <a:ext cx="54864" cy="146304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5669280" cy="146304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200400"/>
            <a:ext cx="54864" cy="1463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5029200"/>
            <a:ext cx="11612880" cy="118872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第二/三/四梯队 | 建设中与待启动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进度差3-5年，选对省份等于选对赛道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5/17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389888"/>
            <a:ext cx="1097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4153"/>
                </a:solidFill>
                <a:latin typeface="Microsoft YaHei"/>
              </a:defRPr>
            </a:pPr>
            <a:r>
              <a:t>省份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1389888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4153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1389888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4153"/>
                </a:solidFill>
                <a:latin typeface="Microsoft YaHei"/>
              </a:defRPr>
            </a:pPr>
            <a:r>
              <a:t>预计转正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1389888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4153"/>
                </a:solidFill>
                <a:latin typeface="Microsoft YaHei"/>
              </a:defRPr>
            </a:pPr>
            <a:r>
              <a:t>关键观察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719072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安徽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171907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连续试运行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171907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9AD7D"/>
                </a:solidFill>
                <a:latin typeface="Microsoft YaHei"/>
              </a:defRPr>
            </a:pPr>
            <a:r>
              <a:t>2026.6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171907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规则仍在磨合，市场力干预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029967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陕西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029967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连续试运行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2029967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9AD7D"/>
                </a:solidFill>
                <a:latin typeface="Microsoft YaHei"/>
              </a:defRPr>
            </a:pPr>
            <a:r>
              <a:t>2026.6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2029967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地板价常态化，30-70元/MWh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340864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辽宁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2340864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2025.3启动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234086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9AD7D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2340864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引入负电价-100元/MWh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6517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河北南网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265176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2025.3启动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26517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9AD7D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26517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承接北京外溢算力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2962656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南方区域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2962656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2025.6启动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2962656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9AD7D"/>
                </a:solidFill>
                <a:latin typeface="Microsoft YaHei"/>
              </a:defRPr>
            </a:pPr>
            <a:r>
              <a:t>2026Q4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2962656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首个跨省区域市场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327355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9A6A"/>
                </a:solidFill>
                <a:latin typeface="Microsoft YaHei"/>
              </a:defRPr>
            </a:pPr>
            <a:r>
              <a:t>第三梯队：长周期试运行（9省）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79" y="3639312"/>
            <a:ext cx="53949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福建 | 四川 | 江苏 | 湖南 | 河南 | 宁夏 | 重庆 | 上海 | 吉林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79" y="4096512"/>
            <a:ext cx="53949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AD7D"/>
                </a:solidFill>
                <a:latin typeface="Microsoft YaHei"/>
              </a:defRPr>
            </a:pPr>
            <a:r>
              <a:t>关键观察：江苏电价高但未转正；四川季节性波动巨大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27355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00000"/>
                </a:solidFill>
                <a:latin typeface="Microsoft YaHei"/>
              </a:defRPr>
            </a:pPr>
            <a:r>
              <a:t>第四梯队：短周期试运行或未启动（5省）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3639312"/>
            <a:ext cx="53949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江西 | 黑龙江 | 新疆 | 蒙东 | 青海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096512"/>
            <a:ext cx="53949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AD7D"/>
                </a:solidFill>
                <a:latin typeface="Microsoft YaHei"/>
              </a:defRPr>
            </a:pPr>
            <a:r>
              <a:t>关键观察：黑龙江是典型"电改落后省"，</a:t>
            </a:r>
            <a:br/>
            <a:r>
              <a:t>但电价极低，未来转正存在制度性红利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79" y="5102352"/>
            <a:ext cx="11338559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核心结论：进度分化=选址梯度。先行省份（蒙西/甘肃/山西）有成熟市场，后发省份（陕西/辽宁）有转正红利。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1612880" cy="329184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700784"/>
            <a:ext cx="11612880" cy="301752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002536"/>
            <a:ext cx="11612880" cy="301752"/>
          </a:xfrm>
          <a:prstGeom prst="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304288"/>
            <a:ext cx="11612880" cy="301752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606039"/>
            <a:ext cx="11612880" cy="301752"/>
          </a:xfrm>
          <a:prstGeom prst="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907791"/>
            <a:ext cx="11612880" cy="301752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209544"/>
            <a:ext cx="11612880" cy="301752"/>
          </a:xfrm>
          <a:prstGeom prst="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511296"/>
            <a:ext cx="11612880" cy="301752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813048"/>
            <a:ext cx="11612880" cy="301752"/>
          </a:xfrm>
          <a:prstGeom prst="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最新电价分化态势 | 2026年6月第3周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八省现货市场价格数据（元/MWh）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6/17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4153"/>
                </a:solidFill>
                <a:latin typeface="Microsoft YaHei"/>
              </a:defRPr>
            </a:pPr>
            <a:r>
              <a:t>省份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389888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4153"/>
                </a:solidFill>
                <a:latin typeface="Microsoft YaHei"/>
              </a:defRPr>
            </a:pPr>
            <a:r>
              <a:t>日前最低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1389888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4153"/>
                </a:solidFill>
                <a:latin typeface="Microsoft YaHei"/>
              </a:defRPr>
            </a:pPr>
            <a:r>
              <a:t>日前最高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389888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4153"/>
                </a:solidFill>
                <a:latin typeface="Microsoft YaHei"/>
              </a:defRPr>
            </a:pPr>
            <a:r>
              <a:t>实时最低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389888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4153"/>
                </a:solidFill>
                <a:latin typeface="Microsoft YaHei"/>
              </a:defRPr>
            </a:pPr>
            <a:r>
              <a:t>实时最高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389888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4153"/>
                </a:solidFill>
                <a:latin typeface="Microsoft YaHei"/>
              </a:defRPr>
            </a:pPr>
            <a:r>
              <a:t>平均中枢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89888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64153"/>
                </a:solidFill>
                <a:latin typeface="Microsoft YaHei"/>
              </a:defRPr>
            </a:pPr>
            <a:r>
              <a:t>波动特征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171907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00000"/>
                </a:solidFill>
                <a:latin typeface="Microsoft YaHei"/>
              </a:defRPr>
            </a:pPr>
            <a:r>
              <a:t>广东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171907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171907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477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171907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171907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536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171907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AD7D"/>
                </a:solidFill>
                <a:latin typeface="Microsoft YaHei"/>
              </a:defRPr>
            </a:pPr>
            <a:r>
              <a:t>~460元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719072"/>
            <a:ext cx="502920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峰谷差极大，实时波动剧烈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020824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山西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2020824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2020824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020824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2020824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334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2020824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AD7D"/>
                </a:solidFill>
                <a:latin typeface="Microsoft YaHei"/>
              </a:defRPr>
            </a:pPr>
            <a:r>
              <a:t>~260元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020824"/>
            <a:ext cx="502920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相对平稳，市场成熟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2322576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山东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2322576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2322576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460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2322576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2322576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436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2322576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AD7D"/>
                </a:solidFill>
                <a:latin typeface="Microsoft YaHei"/>
              </a:defRPr>
            </a:pPr>
            <a:r>
              <a:t>~350元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322576"/>
            <a:ext cx="502920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新能源出力日波动大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2624327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89A6A"/>
                </a:solidFill>
                <a:latin typeface="Microsoft YaHei"/>
              </a:defRPr>
            </a:pPr>
            <a:r>
              <a:t>蒙西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2624327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188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2624327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276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2624327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188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2624327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276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2624327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AD7D"/>
                </a:solidFill>
                <a:latin typeface="Microsoft YaHei"/>
              </a:defRPr>
            </a:pPr>
            <a:r>
              <a:t>~240元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2624327"/>
            <a:ext cx="502920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发电侧低，用户侧加权高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2926079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89A6A"/>
                </a:solidFill>
                <a:latin typeface="Microsoft YaHei"/>
              </a:defRPr>
            </a:pPr>
            <a:r>
              <a:t>陕西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2926079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66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0" y="2926079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2926079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82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0" y="2926079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2926079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AD7D"/>
                </a:solidFill>
                <a:latin typeface="Microsoft YaHei"/>
              </a:defRPr>
            </a:pPr>
            <a:r>
              <a:t>~150元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2926079"/>
            <a:ext cx="502920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地板价频现，西北特征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322783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辽宁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" y="322783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0" y="322783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0" y="322783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322783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357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0" y="3227832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AD7D"/>
                </a:solidFill>
                <a:latin typeface="Microsoft YaHei"/>
              </a:defRPr>
            </a:pPr>
            <a:r>
              <a:t>~200元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3227832"/>
            <a:ext cx="502920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负电价常态化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3529584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00000"/>
                </a:solidFill>
                <a:latin typeface="Microsoft YaHei"/>
              </a:defRPr>
            </a:pPr>
            <a:r>
              <a:t>江苏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160" y="3529584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3529584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369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91840" y="3529584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333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97680" y="3529584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3520" y="3529584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AD7D"/>
                </a:solidFill>
                <a:latin typeface="Microsoft YaHei"/>
              </a:defRPr>
            </a:pPr>
            <a:r>
              <a:t>~350元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0" y="3529584"/>
            <a:ext cx="502920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高且稳定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3831335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安徽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80160" y="3831335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177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3831335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298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91840" y="3831335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155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97680" y="3831335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315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03520" y="3831335"/>
            <a:ext cx="100584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AD7D"/>
                </a:solidFill>
                <a:latin typeface="Microsoft YaHei"/>
              </a:defRPr>
            </a:pPr>
            <a:r>
              <a:t>~250元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60" y="3831335"/>
            <a:ext cx="502920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市场力干预后趋稳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182880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4864" cy="182880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182880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4864" cy="182880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0881360" cy="201168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840480"/>
            <a:ext cx="54864" cy="20116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电价分化核心结论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地理套利 + 时点套利 = 算电协同超额收益来源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7/17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19072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9A6A"/>
                </a:solidFill>
                <a:latin typeface="Microsoft YaHei"/>
              </a:defRPr>
            </a:pPr>
            <a:r>
              <a:t>结论一：电价梯度 = 选址梯度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76272"/>
            <a:ext cx="5029200" cy="10424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蒙西/陕西/辽宁低价区 → 算电协同首选</a:t>
            </a:r>
            <a:br/>
            <a:r>
              <a:t>广东/江苏高价区 → VPP/需求响应价值大</a:t>
            </a:r>
            <a:br/>
            <a:r>
              <a:t>电价水平直接决定数据中心运营成本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19072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9A6A"/>
                </a:solidFill>
                <a:latin typeface="Microsoft YaHei"/>
              </a:defRPr>
            </a:pPr>
            <a:r>
              <a:t>结论二：地理套利空间巨大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76272"/>
            <a:ext cx="5029200" cy="10424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蒙西用户侧均价 ~240 元/MWh</a:t>
            </a:r>
            <a:br/>
            <a:r>
              <a:t>广东用户侧均价 ~460 元/MWh</a:t>
            </a:r>
            <a:br/>
            <a:r>
              <a:t>价差近 1 倍 → 年省电费数亿元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13632"/>
            <a:ext cx="106070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0000"/>
                </a:solidFill>
                <a:latin typeface="Microsoft YaHei"/>
              </a:defRPr>
            </a:pPr>
            <a:r>
              <a:t>结论三：时点套利空间存在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70832"/>
            <a:ext cx="10607040" cy="10424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陕西日前最低66元 vs 最高313元 = 日内价差4.7倍</a:t>
            </a:r>
            <a:br/>
            <a:r>
              <a:t>辽宁引入负电价（-100元/MWh）后，峰谷价差进一步拉大</a:t>
            </a:r>
            <a:br/>
            <a:r>
              <a:t>储能/柔性负荷可通过时点套利获取超额收益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5669280" cy="228600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" cy="228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669280" cy="228600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" cy="228600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3931920"/>
            <a:ext cx="5669280" cy="228600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3931920"/>
            <a:ext cx="54864" cy="228600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669280" cy="228600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931920"/>
            <a:ext cx="54864" cy="228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2026年电改关键变化 | 规则篇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四大结构性变革重塑电力市场格局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8/17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444752"/>
            <a:ext cx="53949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1. 负电价正式化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1901952"/>
            <a:ext cx="5394960" cy="1499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辽宁2026年引入-100元/MWh价格下限</a:t>
            </a:r>
            <a:br/>
            <a:r>
              <a:t>新能源大省可能跟进</a:t>
            </a:r>
            <a:br/>
            <a:r>
              <a:t>储能/柔性负荷价值凸显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444752"/>
            <a:ext cx="53949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2. 容量电价分化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01952"/>
            <a:ext cx="5394960" cy="1499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广东气电容量电价涨164%-296%</a:t>
            </a:r>
            <a:br/>
            <a:r>
              <a:t>煤电涨65%</a:t>
            </a:r>
            <a:br/>
            <a:r>
              <a:t>独立储能容量补偿持续退坡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005072"/>
            <a:ext cx="53949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3. 新能源全面入市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462272"/>
            <a:ext cx="5394960" cy="1499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136号文：存量集中式新能源30-50%电量入市</a:t>
            </a:r>
            <a:br/>
            <a:r>
              <a:t>分布式光伏逐步全量入市</a:t>
            </a:r>
            <a:br/>
            <a:r>
              <a:t>绿电交易规模有望爆发式增长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05072"/>
            <a:ext cx="53949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4. 售电盈利模式重构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62272"/>
            <a:ext cx="5394960" cy="1499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广东取消浮动费用，批零价差基本消失</a:t>
            </a:r>
            <a:br/>
            <a:r>
              <a:t>售电从"价差套利"转向"服务增值"</a:t>
            </a:r>
            <a:br/>
            <a:r>
              <a:t>第三方服务商（AI报价/VPP）机会出现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3657600" cy="365760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06240" y="1371600"/>
            <a:ext cx="3657600" cy="365760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657600" cy="365760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2026年电改关键变化 | 市场行为篇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发电策略转变 + 监管强化 + 跨省交易常态化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9/17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444752"/>
            <a:ext cx="3383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发电企业报价策略转变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901952"/>
            <a:ext cx="3383280" cy="287121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新年度中长期合约持仓比例调整</a:t>
            </a:r>
            <a:br/>
            <a:r>
              <a:t>多地1月1日电价跳涨20%-289%</a:t>
            </a:r>
            <a:br/>
            <a:r>
              <a:t>现货市场交易频次增加</a:t>
            </a:r>
            <a:br/>
            <a:r>
              <a:t>→ AI报价策略需求爆发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444752"/>
            <a:ext cx="3383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市场力监管加强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01952"/>
            <a:ext cx="3383280" cy="287121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安徽/湖北多次触发市场力缓解机制</a:t>
            </a:r>
            <a:br/>
            <a:r>
              <a:t>监管干预后电价曲线异常平稳</a:t>
            </a:r>
            <a:br/>
            <a:r>
              <a:t>规则版本迭代加速</a:t>
            </a:r>
            <a:br/>
            <a:r>
              <a:t>→ 交易合规成本上升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444752"/>
            <a:ext cx="3383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跨省交易常态化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01952"/>
            <a:ext cx="3383280" cy="287121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西北/华中短期互济品种启动</a:t>
            </a:r>
            <a:br/>
            <a:r>
              <a:t>南方区域市场Q4启动</a:t>
            </a:r>
            <a:br/>
            <a:r>
              <a:t>省间壁垒逐渐打破</a:t>
            </a:r>
            <a:br/>
            <a:r>
              <a:t>→ 跨省套利机会增加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1612880" cy="3657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11612880" cy="420624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157984"/>
            <a:ext cx="11612880" cy="420624"/>
          </a:xfrm>
          <a:prstGeom prst="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578608"/>
            <a:ext cx="11612880" cy="420624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999232"/>
            <a:ext cx="11612880" cy="420624"/>
          </a:xfrm>
          <a:prstGeom prst="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3419856"/>
            <a:ext cx="11612880" cy="420624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840480"/>
            <a:ext cx="11612880" cy="420624"/>
          </a:xfrm>
          <a:prstGeom prst="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4261104"/>
            <a:ext cx="11612880" cy="420624"/>
          </a:xfrm>
          <a:prstGeom prst="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投资选址决策矩阵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电改成熟度 × 电价水平 × 算电协同适合角色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10/17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399032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64153"/>
                </a:solidFill>
                <a:latin typeface="Microsoft YaHei"/>
              </a:defRPr>
            </a:pPr>
            <a:r>
              <a:t>省域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399032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64153"/>
                </a:solidFill>
                <a:latin typeface="Microsoft YaHei"/>
              </a:defRPr>
            </a:pPr>
            <a:r>
              <a:t>电改成熟度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399032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64153"/>
                </a:solidFill>
                <a:latin typeface="Microsoft YaHei"/>
              </a:defRPr>
            </a:pPr>
            <a:r>
              <a:t>电价水平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399032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64153"/>
                </a:solidFill>
                <a:latin typeface="Microsoft YaHei"/>
              </a:defRPr>
            </a:pPr>
            <a:r>
              <a:t>算电协同适合角色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3990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64153"/>
                </a:solidFill>
                <a:latin typeface="Microsoft YaHei"/>
              </a:defRPr>
            </a:pPr>
            <a:r>
              <a:t>推荐优先级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1783080"/>
            <a:ext cx="1920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B89A6A"/>
                </a:solidFill>
                <a:latin typeface="Microsoft YaHei"/>
              </a:defRPr>
            </a:pPr>
            <a:r>
              <a:t>蒙西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1783080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AD7D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1783080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783080"/>
            <a:ext cx="25603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数据中心绿电直供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783080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B89A6A"/>
                </a:solidFill>
                <a:latin typeface="Microsoft YaHei"/>
              </a:defRPr>
            </a:pPr>
            <a:r>
              <a:t>P0 首选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203703"/>
            <a:ext cx="1920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B89A6A"/>
                </a:solidFill>
                <a:latin typeface="Microsoft YaHei"/>
              </a:defRPr>
            </a:pPr>
            <a:r>
              <a:t>甘肃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203703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AD7D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2203703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极低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203703"/>
            <a:ext cx="25603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算力西部枢纽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203703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B89A6A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624327"/>
            <a:ext cx="1920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山西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2624327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AD7D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2624327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中低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624327"/>
            <a:ext cx="25603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辅助服务+储能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624327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3044952"/>
            <a:ext cx="1920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陕西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3044952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AD7D"/>
                </a:solidFill>
                <a:latin typeface="Microsoft YaHei"/>
              </a:defRPr>
            </a:pPr>
            <a:r>
              <a:t>★★★★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3044952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044952"/>
            <a:ext cx="25603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绿电直供（转正中）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044952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3465576"/>
            <a:ext cx="1920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广东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3465576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AD7D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3465576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3465576"/>
            <a:ext cx="25603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VPP/需求响应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465576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P1*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886200"/>
            <a:ext cx="1920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辽宁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3886200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AD7D"/>
                </a:solidFill>
                <a:latin typeface="Microsoft YaHei"/>
              </a:defRPr>
            </a:pPr>
            <a:r>
              <a:t>★★★★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3886200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中低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3886200"/>
            <a:ext cx="25603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绿电+储能组合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3886200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4306824"/>
            <a:ext cx="1920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江苏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4306824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AD7D"/>
                </a:solidFill>
                <a:latin typeface="Microsoft YaHei"/>
              </a:defRPr>
            </a:pPr>
            <a:r>
              <a:t>★★★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4306824"/>
            <a:ext cx="1280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4306824"/>
            <a:ext cx="25603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需等转正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4306824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73152" cy="146304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1371600"/>
            <a:ext cx="5669280" cy="146304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73152" cy="146304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2784" y="1371600"/>
            <a:ext cx="5669280" cy="146304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108960"/>
            <a:ext cx="73152" cy="1463040"/>
          </a:xfrm>
          <a:prstGeom prst="rect">
            <a:avLst/>
          </a:prstGeom>
          <a:solidFill>
            <a:srgbClr val="C9A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" y="3108960"/>
            <a:ext cx="5669280" cy="146304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3108960"/>
            <a:ext cx="73152" cy="1463040"/>
          </a:xfrm>
          <a:prstGeom prst="rect">
            <a:avLst/>
          </a:prstGeom>
          <a:solidFill>
            <a:srgbClr val="C9A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3108960"/>
            <a:ext cx="5669280" cy="146304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4846320"/>
            <a:ext cx="73152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" y="4846320"/>
            <a:ext cx="5669280" cy="118872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4846320"/>
            <a:ext cx="73152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4" y="4846320"/>
            <a:ext cx="5669280" cy="118872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选址推荐排序详解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P0 &gt; P1 &gt; P2 &gt; P3 — 分梯度投资策略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11/17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144475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P0 首选：蒙西 · 甘肃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1810512"/>
            <a:ext cx="53949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蒙西：现货均价240元/MWh，内蒙古数据中心集群，绿电直连政策（688号文）已发布</a:t>
            </a:r>
            <a:br/>
            <a:r>
              <a:t>甘肃：现货均价145元/MWh（全国最低之一），新能源占比最高，绿电成本确定性优势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144475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P0 首选：整体评估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1810512"/>
            <a:ext cx="53949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这两个地区具备"低电价+政策支持+产业集聚"三重叠加效应</a:t>
            </a:r>
            <a:br/>
            <a:r>
              <a:t>数据中心可节省50%+电力成本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318211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9AD7D"/>
                </a:solidFill>
                <a:latin typeface="Microsoft YaHei"/>
              </a:defRPr>
            </a:pPr>
            <a:r>
              <a:t>P1：山西 · 陕西 · 广东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3547872"/>
            <a:ext cx="53949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山西：辅助服务市场成熟，储能+数据中心VPP可参与</a:t>
            </a:r>
            <a:br/>
            <a:r>
              <a:t>陕西：即将转正，地板价常态化，有转正制度红利</a:t>
            </a:r>
            <a:br/>
            <a:r>
              <a:t>广东：VPP首单落地，电价高但负荷侧价值大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18211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9AD7D"/>
                </a:solidFill>
                <a:latin typeface="Microsoft YaHei"/>
              </a:defRPr>
            </a:pPr>
            <a:r>
              <a:t>P1：差异化策略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3547872"/>
            <a:ext cx="53949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不同省份需要不同进入策略：</a:t>
            </a:r>
            <a:br/>
            <a:r>
              <a:t>山西→辅助服务 / 陕西→绿电直供 / 广东→VPP聚合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91947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P2-P3：辽宁 · 江苏 · 其他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5285232"/>
            <a:ext cx="5394960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辽宁：负电价机制带来储能套利窗口，但市场仍在建设中</a:t>
            </a:r>
            <a:br/>
            <a:r>
              <a:t>江苏：电价高且稳定，但尚未转正，需等待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491947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P2-P3：观察等待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5285232"/>
            <a:ext cx="5394960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新进入者可先布局P0-P1区域</a:t>
            </a:r>
            <a:br/>
            <a:r>
              <a:t>P2-P3区域保持跟踪，等待转正信号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5669280" cy="228600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" cy="228600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669280" cy="228600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" cy="228600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3931920"/>
            <a:ext cx="5669280" cy="228600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3931920"/>
            <a:ext cx="54864" cy="228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669280" cy="228600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931920"/>
            <a:ext cx="54864" cy="228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对算电协同赛道的含义 | 投资主题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四大投资主题过滤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12/17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444752"/>
            <a:ext cx="53949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电力交易AI / 软件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1901952"/>
            <a:ext cx="5394960" cy="1499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现货市场扩容 → 交易频次增加 → AI报价策略需求爆发</a:t>
            </a:r>
            <a:br/>
            <a:r>
              <a:t>参考标的：国能日新、清大科越模式</a:t>
            </a:r>
            <a:br/>
            <a:r>
              <a:t>电改进度越快的省份，采购需求越迫切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444752"/>
            <a:ext cx="53949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虚拟电厂聚合商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01952"/>
            <a:ext cx="5394960" cy="1499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广东33MW已入市，VPP模式跑通</a:t>
            </a:r>
            <a:br/>
            <a:r>
              <a:t>电改进度越快 → 市场机制越开放 → VPP价值越大</a:t>
            </a:r>
            <a:br/>
            <a:r>
              <a:t>需要关注各省VPP注册准入门槛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005072"/>
            <a:ext cx="53949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绿电直供项目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462272"/>
            <a:ext cx="5394960" cy="1499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688号文已发布</a:t>
            </a:r>
            <a:br/>
            <a:r>
              <a:t>内蒙古明确支持数据中心负荷绿电直连</a:t>
            </a:r>
            <a:br/>
            <a:r>
              <a:t>核心变量：过网费定价机制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05072"/>
            <a:ext cx="53949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储能套利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62272"/>
            <a:ext cx="5394960" cy="1499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现货市场价格波动加剧 → 储能套利空间扩大</a:t>
            </a:r>
            <a:br/>
            <a:r>
              <a:t>山西已跑通模式，其余省份跟进中</a:t>
            </a:r>
            <a:br/>
            <a:r>
              <a:t>负电价机制是最强催化剂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6858000" cy="438912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wn Arrow 4"/>
          <p:cNvSpPr/>
          <p:nvPr/>
        </p:nvSpPr>
        <p:spPr>
          <a:xfrm>
            <a:off x="2926080" y="1828800"/>
            <a:ext cx="457200" cy="365760"/>
          </a:xfrm>
          <a:prstGeom prst="downArrow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wn Arrow 5"/>
          <p:cNvSpPr/>
          <p:nvPr/>
        </p:nvSpPr>
        <p:spPr>
          <a:xfrm>
            <a:off x="2926080" y="2926080"/>
            <a:ext cx="457200" cy="365760"/>
          </a:xfrm>
          <a:prstGeom prst="downArrow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wn Arrow 6"/>
          <p:cNvSpPr/>
          <p:nvPr/>
        </p:nvSpPr>
        <p:spPr>
          <a:xfrm>
            <a:off x="2926080" y="4023360"/>
            <a:ext cx="457200" cy="365760"/>
          </a:xfrm>
          <a:prstGeom prst="downArrow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06640" y="1371600"/>
            <a:ext cx="4480560" cy="438912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371600"/>
            <a:ext cx="54864" cy="438912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算电协同：投资逻辑纵深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从进度地图到投资结论的逻辑链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13/17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536192"/>
            <a:ext cx="61264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9A6A"/>
                </a:solidFill>
                <a:latin typeface="Microsoft YaHei"/>
              </a:defRPr>
            </a:pPr>
            <a:r>
              <a:t>Step 1：识别进度差距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47672"/>
            <a:ext cx="612648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电改2.0各省进度差3-5年 → 先行省份已形成市场化电价机制</a:t>
            </a:r>
            <a:br/>
            <a:r>
              <a:t>后发省份存在制度性红利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61264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9A6A"/>
                </a:solidFill>
                <a:latin typeface="Microsoft YaHei"/>
              </a:defRPr>
            </a:pPr>
            <a:r>
              <a:t>Step 2：定位电价梯度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44952"/>
            <a:ext cx="612648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蒙西240 vs 广东460 → 地理套利空间1倍</a:t>
            </a:r>
            <a:br/>
            <a:r>
              <a:t>陕西日内价差4.7倍 → 时点套利空间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30752"/>
            <a:ext cx="61264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9A6A"/>
                </a:solidFill>
                <a:latin typeface="Microsoft YaHei"/>
              </a:defRPr>
            </a:pPr>
            <a:r>
              <a:t>Step 3：匹配投资主题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42232"/>
            <a:ext cx="612648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低电价区 → 绿电直供、数据中心投资</a:t>
            </a:r>
            <a:br/>
            <a:r>
              <a:t>高电价区 → VPP聚合、需求响应、储能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28032"/>
            <a:ext cx="61264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9A6A"/>
                </a:solidFill>
                <a:latin typeface="Microsoft YaHei"/>
              </a:defRPr>
            </a:pPr>
            <a:r>
              <a:t>Step 4：执行选址决策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39512"/>
            <a:ext cx="6126480" cy="40233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P0（蒙西/甘肃）即刻布局</a:t>
            </a:r>
            <a:br/>
            <a:r>
              <a:t>P1（山西/陕西/广东）差异化进入</a:t>
            </a:r>
            <a:br/>
            <a:r>
              <a:t>P2-P3观望待机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1536192"/>
            <a:ext cx="42062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9A6A"/>
                </a:solidFill>
                <a:latin typeface="Microsoft YaHei"/>
              </a:defRPr>
            </a:pPr>
            <a:r>
              <a:t>核心投资结论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084832"/>
            <a:ext cx="4206240" cy="332841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电改2.0是算电协同赛道的</a:t>
            </a:r>
            <a:br/>
            <a:r>
              <a:t>最重要基础设施变量。</a:t>
            </a:r>
            <a:br/>
            <a:br/>
            <a:r>
              <a:t>选对省份 = 选对赛道。</a:t>
            </a:r>
            <a:br/>
            <a:br/>
            <a:r>
              <a:t>蒙西和甘肃是目前最佳</a:t>
            </a:r>
            <a:br/>
            <a:r>
              <a:t>布局区域。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5669280" cy="164592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" cy="1645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669280" cy="164592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" cy="1645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3291840"/>
            <a:ext cx="5669280" cy="164592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3291840"/>
            <a:ext cx="54864" cy="164592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291840"/>
            <a:ext cx="5669280" cy="1645920"/>
          </a:xfrm>
          <a:prstGeom prst="roundRect">
            <a:avLst/>
          </a:prstGeom>
          <a:solidFill>
            <a:srgbClr val="2E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291840"/>
            <a:ext cx="54864" cy="164592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关键风险因素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投资前需持续跟踪的核心风险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14/17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44475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政策风险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1810512"/>
            <a:ext cx="5394960" cy="9509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省间壁垒：各省规则差异大，实际落地仍有地方保护</a:t>
            </a:r>
            <a:br/>
            <a:r>
              <a:t>容量电价政策尚未全国统一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44475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市场风险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10512"/>
            <a:ext cx="5394960" cy="9509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输电通道占用费未明确</a:t>
            </a:r>
            <a:br/>
            <a:r>
              <a:t>部分省份新能源入市补贴退坡节奏不确定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36499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执行风险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730752"/>
            <a:ext cx="5394960" cy="9509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各省VPP注册流程和准入门槛差异大</a:t>
            </a:r>
            <a:br/>
            <a:r>
              <a:t>第三方聚合商开放程度参差不齐</a:t>
            </a:r>
            <a:br/>
            <a:r>
              <a:t>市场力干预可能扭曲价格信号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36499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技术风险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730752"/>
            <a:ext cx="5394960" cy="9509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绿电直连过网费定价不确定</a:t>
            </a:r>
            <a:br/>
            <a:r>
              <a:t>储能+数据中心VPP技术集成复杂度</a:t>
            </a:r>
            <a:br/>
            <a:r>
              <a:t>跨省交易结算机制仍需验证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1612880" cy="411480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下一步需要验证的问题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Due Diligence 优先事项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15/17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44752"/>
            <a:ext cx="11338559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9A6A"/>
                </a:solidFill>
                <a:latin typeface="Microsoft YaHei"/>
              </a:defRPr>
            </a:pPr>
            <a:r>
              <a:t>1. 成本验证：蒙西/甘肃数据中心实际绿电采购成本 vs 大工业目录电价 vs 现货均价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01952"/>
            <a:ext cx="11338559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到底能省多少？需要拿到当地大工业目录电价和中长期合约数据做对比分析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42032"/>
            <a:ext cx="11338559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9A6A"/>
                </a:solidFill>
                <a:latin typeface="Microsoft YaHei"/>
              </a:defRPr>
            </a:pPr>
            <a:r>
              <a:t>2. 准入门槛：各省VPP注册流程和准入门槛差异 —— 哪些省真正对第三方聚合商开放？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999232"/>
            <a:ext cx="11338559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广东已开放但门槛高，需要逐省调研市场化交易准入条件和注册成本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639312"/>
            <a:ext cx="11338559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9A6A"/>
                </a:solidFill>
                <a:latin typeface="Microsoft YaHei"/>
              </a:defRPr>
            </a:pPr>
            <a:r>
              <a:t>3. 政策细则：内蒙古"数据中心负荷绿电直连"政策执行细则 —— 过网费怎么算？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4096512"/>
            <a:ext cx="11338559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688号文已发布但关键细节待明确，直接影响项目经济性测算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4736592"/>
            <a:ext cx="11338559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9A6A"/>
                </a:solidFill>
                <a:latin typeface="Microsoft YaHei"/>
              </a:defRPr>
            </a:pPr>
            <a:r>
              <a:t>4. 实时数据源：能否用 China Energy MCP 自动拉取各省电价数据？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5193792"/>
            <a:ext cx="11338559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建立实时进度地图监控，是持续跟踪投资机会的基础设施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2286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5669280" cy="411480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" cy="411480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669280" cy="4114800"/>
          </a:xfrm>
          <a:prstGeom prst="roundRect">
            <a:avLst/>
          </a:prstGeom>
          <a:solidFill>
            <a:srgbClr val="25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" cy="4114800"/>
          </a:xfrm>
          <a:prstGeom prst="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89A6A"/>
                </a:solidFill>
                <a:latin typeface="Microsoft YaHei"/>
              </a:defRPr>
            </a:pPr>
            <a:r>
              <a:t>附录：数据来源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本报告数据基于以下公开信息源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16/17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44475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电力市场数据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10512"/>
            <a:ext cx="5394960" cy="332841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北极星电力市场网：2026年6月第3周</a:t>
            </a:r>
            <a:br/>
            <a:r>
              <a:t>（6.15-6.21）八个地区现货价格周报</a:t>
            </a:r>
            <a:br/>
            <a:br/>
            <a:r>
              <a:t>北极星电力市场网：2026年5月</a:t>
            </a:r>
            <a:br/>
            <a:r>
              <a:t>第1-2周现货价格周报</a:t>
            </a:r>
            <a:br/>
            <a:br/>
            <a:r>
              <a:t>数字储能网：2026开年24省区</a:t>
            </a:r>
            <a:br/>
            <a:r>
              <a:t>现货价格涨跌观察（2026.1.26）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444752"/>
            <a:ext cx="53949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9A6A"/>
                </a:solidFill>
                <a:latin typeface="Microsoft YaHei"/>
              </a:defRPr>
            </a:pPr>
            <a:r>
              <a:t>政策与研究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10512"/>
            <a:ext cx="5394960" cy="332841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RMI落基山研究所：</a:t>
            </a:r>
            <a:br/>
            <a:r>
              <a:t>《2025电力市场化改革与电价体系洞察》</a:t>
            </a:r>
            <a:br/>
            <a:br/>
            <a:r>
              <a:t>广东电力交易中心：</a:t>
            </a:r>
            <a:br/>
            <a:r>
              <a:t>《广东电力市场2026年交易关键</a:t>
            </a:r>
            <a:br/>
            <a:r>
              <a:t>机制和参数》（2025.10）</a:t>
            </a:r>
            <a:br/>
            <a:br/>
            <a:r>
              <a:t>知识库已有研究：</a:t>
            </a:r>
            <a:br/>
            <a:r>
              <a:t>电改2.0落地时间表</a:t>
            </a:r>
            <a:br/>
            <a:r>
              <a:t>电力新能源赛道文件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286000"/>
            <a:ext cx="5760720" cy="27432"/>
          </a:xfrm>
          <a:prstGeom prst="roundRect">
            <a:avLst/>
          </a:prstGeom>
          <a:solidFill>
            <a:srgbClr val="B8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B89A6A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AD7D"/>
                </a:solidFill>
                <a:latin typeface="Microsoft YaHei"/>
              </a:defRPr>
            </a:pPr>
            <a:r>
              <a:t>电改2.0：电力市场化进度全景地图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数据截至2026年6月24日 · 仅供机构投资者参考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89A6A"/>
                </a:solidFill>
                <a:latin typeface="Microsoft YaHei"/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